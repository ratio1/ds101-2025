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Zy8AATS7uNA2Z4mByjI28crsd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7681D2-E605-463C-803C-658BD5D5754D}">
  <a:tblStyle styleId="{0D7681D2-E605-463C-803C-658BD5D5754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1f735c86f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a1f735c86f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a1f735c86f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1f735c86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a1f735c86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a1f735c86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35099" y="714375"/>
            <a:ext cx="787365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Science 101 - Lecture </a:t>
            </a:r>
            <a:r>
              <a:rPr b="1" lang="en-US" sz="4500">
                <a:solidFill>
                  <a:srgbClr val="FFFFFF"/>
                </a:solidFill>
              </a:rPr>
              <a:t>4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191000" y="1743075"/>
            <a:ext cx="762000" cy="571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125669" y="2181225"/>
            <a:ext cx="489251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Decentralized Data Science &amp; MLOps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157637" y="3133725"/>
            <a:ext cx="282857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Practical Implementation with Ratio1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537210" y="3743325"/>
            <a:ext cx="40695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Professor: Andrei Ionut DAMIAN | Assistant: Vitalii Toderian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521058" y="4200525"/>
            <a:ext cx="210173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Politehnica University of Bucharest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152400" y="152400"/>
            <a:ext cx="4517708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The Centralized Problem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svg-ab9d0c03.png"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50" y="1345555"/>
            <a:ext cx="47625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5943600" y="1293168"/>
            <a:ext cx="3048000" cy="419100"/>
          </a:xfrm>
          <a:prstGeom prst="roundRect">
            <a:avLst>
              <a:gd fmla="val 9091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2"/>
          <p:cNvCxnSpPr/>
          <p:nvPr/>
        </p:nvCxnSpPr>
        <p:spPr>
          <a:xfrm>
            <a:off x="5962650" y="1293168"/>
            <a:ext cx="0" cy="419100"/>
          </a:xfrm>
          <a:prstGeom prst="straightConnector1">
            <a:avLst/>
          </a:prstGeom>
          <a:noFill/>
          <a:ln cap="flat" cmpd="sng" w="381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2"/>
          <p:cNvSpPr/>
          <p:nvPr/>
        </p:nvSpPr>
        <p:spPr>
          <a:xfrm>
            <a:off x="6096000" y="1407468"/>
            <a:ext cx="283692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💰 High Infrastructure Costs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943600" y="1940868"/>
            <a:ext cx="3048000" cy="419100"/>
          </a:xfrm>
          <a:prstGeom prst="roundRect">
            <a:avLst>
              <a:gd fmla="val 9091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2"/>
          <p:cNvCxnSpPr/>
          <p:nvPr/>
        </p:nvCxnSpPr>
        <p:spPr>
          <a:xfrm>
            <a:off x="5962650" y="1940868"/>
            <a:ext cx="0" cy="419100"/>
          </a:xfrm>
          <a:prstGeom prst="straightConnector1">
            <a:avLst/>
          </a:prstGeom>
          <a:noFill/>
          <a:ln cap="flat" cmpd="sng" w="381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2"/>
          <p:cNvSpPr/>
          <p:nvPr/>
        </p:nvSpPr>
        <p:spPr>
          <a:xfrm>
            <a:off x="6096000" y="2055168"/>
            <a:ext cx="283692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🔗 Centralized Dependency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943600" y="2588568"/>
            <a:ext cx="3048000" cy="419100"/>
          </a:xfrm>
          <a:prstGeom prst="roundRect">
            <a:avLst>
              <a:gd fmla="val 9091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5962650" y="2588568"/>
            <a:ext cx="0" cy="419100"/>
          </a:xfrm>
          <a:prstGeom prst="straightConnector1">
            <a:avLst/>
          </a:prstGeom>
          <a:noFill/>
          <a:ln cap="flat" cmpd="sng" w="381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2"/>
          <p:cNvSpPr/>
          <p:nvPr/>
        </p:nvSpPr>
        <p:spPr>
          <a:xfrm>
            <a:off x="6096000" y="2702868"/>
            <a:ext cx="283692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⚙️ Complex Workflows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943600" y="3236268"/>
            <a:ext cx="3048000" cy="419100"/>
          </a:xfrm>
          <a:prstGeom prst="roundRect">
            <a:avLst>
              <a:gd fmla="val 9091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2"/>
          <p:cNvCxnSpPr/>
          <p:nvPr/>
        </p:nvCxnSpPr>
        <p:spPr>
          <a:xfrm>
            <a:off x="5962650" y="3236268"/>
            <a:ext cx="0" cy="419100"/>
          </a:xfrm>
          <a:prstGeom prst="straightConnector1">
            <a:avLst/>
          </a:prstGeom>
          <a:noFill/>
          <a:ln cap="flat" cmpd="sng" w="381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2"/>
          <p:cNvSpPr/>
          <p:nvPr/>
        </p:nvSpPr>
        <p:spPr>
          <a:xfrm>
            <a:off x="6096000" y="3350568"/>
            <a:ext cx="283692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🎓 Specialized Expertise Required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943600" y="3960168"/>
            <a:ext cx="3048000" cy="609600"/>
          </a:xfrm>
          <a:prstGeom prst="roundRect">
            <a:avLst>
              <a:gd fmla="val 625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5962650" y="3960168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2"/>
          <p:cNvSpPr/>
          <p:nvPr/>
        </p:nvSpPr>
        <p:spPr>
          <a:xfrm>
            <a:off x="6096000" y="4074468"/>
            <a:ext cx="283692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Insight:</a:t>
            </a:r>
            <a:r>
              <a:rPr b="0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Billions of devices sit idle with unused compute capacity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152400" y="152400"/>
            <a:ext cx="4838319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Privacy &amp; Regulatory Landscape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svg-b8f2e947.png" id="50" name="Google Shape;5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83618"/>
            <a:ext cx="8572500" cy="3619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152400" y="152400"/>
            <a:ext cx="4517708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Decentralization Principles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svg-37a4ea50.png" id="57" name="Google Shape;5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795784"/>
            <a:ext cx="8382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/>
          <p:nvPr/>
        </p:nvSpPr>
        <p:spPr>
          <a:xfrm>
            <a:off x="152400" y="152400"/>
            <a:ext cx="4867466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Federated Learning Visualization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svg-2246a329.png" id="64" name="Google Shape;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795784"/>
            <a:ext cx="8382000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/>
          <p:nvPr/>
        </p:nvSpPr>
        <p:spPr>
          <a:xfrm>
            <a:off x="228600" y="228600"/>
            <a:ext cx="4439984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Pattern Comparison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1" name="Google Shape;71;p7"/>
          <p:cNvGraphicFramePr/>
          <p:nvPr/>
        </p:nvGraphicFramePr>
        <p:xfrm>
          <a:off x="228600" y="7957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{0D7681D2-E605-463C-803C-658BD5D5754D}</a:tableStyleId>
              </a:tblPr>
              <a:tblGrid>
                <a:gridCol w="2011675"/>
                <a:gridCol w="2011675"/>
                <a:gridCol w="2011675"/>
                <a:gridCol w="20116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Aspect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Centralized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Federated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Distributed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</a:rPr>
                        <a:t>Data Location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Central server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Stays at edge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Stays at edge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</a:rPr>
                        <a:t>Privacy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✗ Low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✓ High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✓ High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</a:rPr>
                        <a:t>Cost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✗ High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✓ Low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✓ Very Low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</a:rPr>
                        <a:t>Scalability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Limited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Good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Excellent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</a:rPr>
                        <a:t>Latency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High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Low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Very Low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</a:rPr>
                        <a:t>Best For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Legacy systems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ML training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Real-time inference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/>
          <p:nvPr/>
        </p:nvSpPr>
        <p:spPr>
          <a:xfrm>
            <a:off x="152400" y="152400"/>
            <a:ext cx="4517708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The Ratio1 Stack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svg-73c145ff.png" id="78" name="Google Shape;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250" y="795784"/>
            <a:ext cx="66675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/>
          <p:nvPr/>
        </p:nvSpPr>
        <p:spPr>
          <a:xfrm>
            <a:off x="152400" y="152400"/>
            <a:ext cx="4517708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Data Scientist View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svg-ddc42f04.png" id="85" name="Google Shape;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795784"/>
            <a:ext cx="8096250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/>
          <p:nvPr/>
        </p:nvSpPr>
        <p:spPr>
          <a:xfrm>
            <a:off x="152400" y="152400"/>
            <a:ext cx="4925759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Pipeline in Action: AIHO Example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svg-d2917620.png" id="92" name="Google Shape;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795784"/>
            <a:ext cx="8096250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/>
          <p:nvPr/>
        </p:nvSpPr>
        <p:spPr>
          <a:xfrm>
            <a:off x="152400" y="152400"/>
            <a:ext cx="4517708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MLOps Workflow Comparison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2"/>
          <p:cNvSpPr/>
          <p:nvPr/>
        </p:nvSpPr>
        <p:spPr>
          <a:xfrm>
            <a:off x="152400" y="1358205"/>
            <a:ext cx="4343400" cy="2918073"/>
          </a:xfrm>
          <a:prstGeom prst="roundRect">
            <a:avLst>
              <a:gd fmla="val 2611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264414" y="1510605"/>
            <a:ext cx="4119372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Traditional Centralized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2"/>
          <p:cNvSpPr/>
          <p:nvPr/>
        </p:nvSpPr>
        <p:spPr>
          <a:xfrm>
            <a:off x="304800" y="1978372"/>
            <a:ext cx="4038600" cy="355997"/>
          </a:xfrm>
          <a:prstGeom prst="roundRect">
            <a:avLst>
              <a:gd fmla="val 107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12"/>
          <p:cNvCxnSpPr/>
          <p:nvPr/>
        </p:nvCxnSpPr>
        <p:spPr>
          <a:xfrm>
            <a:off x="319088" y="1978372"/>
            <a:ext cx="0" cy="355997"/>
          </a:xfrm>
          <a:prstGeom prst="straightConnector1">
            <a:avLst/>
          </a:prstGeom>
          <a:noFill/>
          <a:ln cap="flat" cmpd="sng" w="285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12"/>
          <p:cNvSpPr/>
          <p:nvPr/>
        </p:nvSpPr>
        <p:spPr>
          <a:xfrm>
            <a:off x="424755" y="2069753"/>
            <a:ext cx="390380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1️⃣ Collect all data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2"/>
          <p:cNvSpPr/>
          <p:nvPr/>
        </p:nvSpPr>
        <p:spPr>
          <a:xfrm>
            <a:off x="304800" y="2425750"/>
            <a:ext cx="4038600" cy="355997"/>
          </a:xfrm>
          <a:prstGeom prst="roundRect">
            <a:avLst>
              <a:gd fmla="val 107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12"/>
          <p:cNvCxnSpPr/>
          <p:nvPr/>
        </p:nvCxnSpPr>
        <p:spPr>
          <a:xfrm>
            <a:off x="319088" y="2425750"/>
            <a:ext cx="0" cy="355997"/>
          </a:xfrm>
          <a:prstGeom prst="straightConnector1">
            <a:avLst/>
          </a:prstGeom>
          <a:noFill/>
          <a:ln cap="flat" cmpd="sng" w="285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12"/>
          <p:cNvSpPr/>
          <p:nvPr/>
        </p:nvSpPr>
        <p:spPr>
          <a:xfrm>
            <a:off x="424755" y="2517130"/>
            <a:ext cx="390380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2️⃣ Store centrally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2"/>
          <p:cNvSpPr/>
          <p:nvPr/>
        </p:nvSpPr>
        <p:spPr>
          <a:xfrm>
            <a:off x="304800" y="2873127"/>
            <a:ext cx="4038600" cy="355997"/>
          </a:xfrm>
          <a:prstGeom prst="roundRect">
            <a:avLst>
              <a:gd fmla="val 107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12"/>
          <p:cNvCxnSpPr/>
          <p:nvPr/>
        </p:nvCxnSpPr>
        <p:spPr>
          <a:xfrm>
            <a:off x="319088" y="2873127"/>
            <a:ext cx="0" cy="355997"/>
          </a:xfrm>
          <a:prstGeom prst="straightConnector1">
            <a:avLst/>
          </a:prstGeom>
          <a:noFill/>
          <a:ln cap="flat" cmpd="sng" w="285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12"/>
          <p:cNvSpPr/>
          <p:nvPr/>
        </p:nvSpPr>
        <p:spPr>
          <a:xfrm>
            <a:off x="424755" y="2964507"/>
            <a:ext cx="390380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3️⃣ Train model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2"/>
          <p:cNvSpPr/>
          <p:nvPr/>
        </p:nvSpPr>
        <p:spPr>
          <a:xfrm>
            <a:off x="304800" y="3320504"/>
            <a:ext cx="4038600" cy="355997"/>
          </a:xfrm>
          <a:prstGeom prst="roundRect">
            <a:avLst>
              <a:gd fmla="val 107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12"/>
          <p:cNvCxnSpPr/>
          <p:nvPr/>
        </p:nvCxnSpPr>
        <p:spPr>
          <a:xfrm>
            <a:off x="319088" y="3320504"/>
            <a:ext cx="0" cy="355997"/>
          </a:xfrm>
          <a:prstGeom prst="straightConnector1">
            <a:avLst/>
          </a:prstGeom>
          <a:noFill/>
          <a:ln cap="flat" cmpd="sng" w="285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12"/>
          <p:cNvSpPr/>
          <p:nvPr/>
        </p:nvSpPr>
        <p:spPr>
          <a:xfrm>
            <a:off x="424755" y="3411885"/>
            <a:ext cx="390380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4️⃣ Deploy to production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304800" y="3767882"/>
            <a:ext cx="4038600" cy="355997"/>
          </a:xfrm>
          <a:prstGeom prst="roundRect">
            <a:avLst>
              <a:gd fmla="val 107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12"/>
          <p:cNvCxnSpPr/>
          <p:nvPr/>
        </p:nvCxnSpPr>
        <p:spPr>
          <a:xfrm>
            <a:off x="319088" y="3767882"/>
            <a:ext cx="0" cy="355997"/>
          </a:xfrm>
          <a:prstGeom prst="straightConnector1">
            <a:avLst/>
          </a:prstGeom>
          <a:noFill/>
          <a:ln cap="flat" cmpd="sng" w="285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12"/>
          <p:cNvSpPr/>
          <p:nvPr/>
        </p:nvSpPr>
        <p:spPr>
          <a:xfrm>
            <a:off x="424755" y="3859262"/>
            <a:ext cx="390380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5️⃣ Monitor performance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2"/>
          <p:cNvSpPr/>
          <p:nvPr/>
        </p:nvSpPr>
        <p:spPr>
          <a:xfrm>
            <a:off x="4648200" y="1358205"/>
            <a:ext cx="4343400" cy="2918073"/>
          </a:xfrm>
          <a:prstGeom prst="roundRect">
            <a:avLst>
              <a:gd fmla="val 2611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2"/>
          <p:cNvSpPr/>
          <p:nvPr/>
        </p:nvSpPr>
        <p:spPr>
          <a:xfrm>
            <a:off x="4760214" y="1510605"/>
            <a:ext cx="4119372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Decentralized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4800600" y="1978372"/>
            <a:ext cx="4038600" cy="355997"/>
          </a:xfrm>
          <a:prstGeom prst="roundRect">
            <a:avLst>
              <a:gd fmla="val 107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12"/>
          <p:cNvCxnSpPr/>
          <p:nvPr/>
        </p:nvCxnSpPr>
        <p:spPr>
          <a:xfrm>
            <a:off x="4814888" y="1978372"/>
            <a:ext cx="0" cy="355997"/>
          </a:xfrm>
          <a:prstGeom prst="straightConnector1">
            <a:avLst/>
          </a:prstGeom>
          <a:noFill/>
          <a:ln cap="flat" cmpd="sng" w="285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12"/>
          <p:cNvSpPr/>
          <p:nvPr/>
        </p:nvSpPr>
        <p:spPr>
          <a:xfrm>
            <a:off x="4920555" y="2069753"/>
            <a:ext cx="390380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1️⃣ Train at edge (local data)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4800600" y="2425750"/>
            <a:ext cx="4038600" cy="355997"/>
          </a:xfrm>
          <a:prstGeom prst="roundRect">
            <a:avLst>
              <a:gd fmla="val 107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12"/>
          <p:cNvCxnSpPr/>
          <p:nvPr/>
        </p:nvCxnSpPr>
        <p:spPr>
          <a:xfrm>
            <a:off x="4814888" y="2425750"/>
            <a:ext cx="0" cy="355997"/>
          </a:xfrm>
          <a:prstGeom prst="straightConnector1">
            <a:avLst/>
          </a:prstGeom>
          <a:noFill/>
          <a:ln cap="flat" cmpd="sng" w="285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12"/>
          <p:cNvSpPr/>
          <p:nvPr/>
        </p:nvSpPr>
        <p:spPr>
          <a:xfrm>
            <a:off x="4920555" y="2517130"/>
            <a:ext cx="390380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2️⃣ Aggregate updates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4800600" y="2873127"/>
            <a:ext cx="4038600" cy="355997"/>
          </a:xfrm>
          <a:prstGeom prst="roundRect">
            <a:avLst>
              <a:gd fmla="val 107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12"/>
          <p:cNvCxnSpPr/>
          <p:nvPr/>
        </p:nvCxnSpPr>
        <p:spPr>
          <a:xfrm>
            <a:off x="4814888" y="2873127"/>
            <a:ext cx="0" cy="355997"/>
          </a:xfrm>
          <a:prstGeom prst="straightConnector1">
            <a:avLst/>
          </a:prstGeom>
          <a:noFill/>
          <a:ln cap="flat" cmpd="sng" w="285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12"/>
          <p:cNvSpPr/>
          <p:nvPr/>
        </p:nvSpPr>
        <p:spPr>
          <a:xfrm>
            <a:off x="4920555" y="2964507"/>
            <a:ext cx="390380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3️⃣ Distribute to nodes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4800600" y="3320504"/>
            <a:ext cx="4038600" cy="355997"/>
          </a:xfrm>
          <a:prstGeom prst="roundRect">
            <a:avLst>
              <a:gd fmla="val 107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2"/>
          <p:cNvCxnSpPr/>
          <p:nvPr/>
        </p:nvCxnSpPr>
        <p:spPr>
          <a:xfrm>
            <a:off x="4814888" y="3320504"/>
            <a:ext cx="0" cy="355997"/>
          </a:xfrm>
          <a:prstGeom prst="straightConnector1">
            <a:avLst/>
          </a:prstGeom>
          <a:noFill/>
          <a:ln cap="flat" cmpd="sng" w="285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12"/>
          <p:cNvSpPr/>
          <p:nvPr/>
        </p:nvSpPr>
        <p:spPr>
          <a:xfrm>
            <a:off x="4920555" y="3411885"/>
            <a:ext cx="390380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4️⃣ Inference at edge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4800600" y="3767882"/>
            <a:ext cx="4038600" cy="355997"/>
          </a:xfrm>
          <a:prstGeom prst="roundRect">
            <a:avLst>
              <a:gd fmla="val 107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2"/>
          <p:cNvCxnSpPr/>
          <p:nvPr/>
        </p:nvCxnSpPr>
        <p:spPr>
          <a:xfrm>
            <a:off x="4814888" y="3767882"/>
            <a:ext cx="0" cy="355997"/>
          </a:xfrm>
          <a:prstGeom prst="straightConnector1">
            <a:avLst/>
          </a:prstGeom>
          <a:noFill/>
          <a:ln cap="flat" cmpd="sng" w="285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12"/>
          <p:cNvSpPr/>
          <p:nvPr/>
        </p:nvSpPr>
        <p:spPr>
          <a:xfrm>
            <a:off x="4920555" y="3859262"/>
            <a:ext cx="390380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5️⃣ Monitor distributed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/>
          <p:nvPr/>
        </p:nvSpPr>
        <p:spPr>
          <a:xfrm>
            <a:off x="152400" y="152400"/>
            <a:ext cx="4896612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Federated Training: Step-by-Step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svg-c1122021.png" id="139" name="Google Shape;13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96455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3"/>
          <p:cNvSpPr/>
          <p:nvPr/>
        </p:nvSpPr>
        <p:spPr>
          <a:xfrm>
            <a:off x="5543550" y="1044773"/>
            <a:ext cx="3448050" cy="491430"/>
          </a:xfrm>
          <a:prstGeom prst="roundRect">
            <a:avLst>
              <a:gd fmla="val 15506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13"/>
          <p:cNvCxnSpPr/>
          <p:nvPr/>
        </p:nvCxnSpPr>
        <p:spPr>
          <a:xfrm>
            <a:off x="5562600" y="1044773"/>
            <a:ext cx="0" cy="491430"/>
          </a:xfrm>
          <a:prstGeom prst="straightConnector1">
            <a:avLst/>
          </a:prstGeom>
          <a:noFill/>
          <a:ln cap="flat" cmpd="sng" w="381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13"/>
          <p:cNvSpPr/>
          <p:nvPr/>
        </p:nvSpPr>
        <p:spPr>
          <a:xfrm>
            <a:off x="5734050" y="1197173"/>
            <a:ext cx="3167253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Step 1:</a:t>
            </a:r>
            <a:r>
              <a:rPr b="0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 Initialize global model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5543550" y="1688604"/>
            <a:ext cx="3448050" cy="491430"/>
          </a:xfrm>
          <a:prstGeom prst="roundRect">
            <a:avLst>
              <a:gd fmla="val 15506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13"/>
          <p:cNvCxnSpPr/>
          <p:nvPr/>
        </p:nvCxnSpPr>
        <p:spPr>
          <a:xfrm>
            <a:off x="5562600" y="1688604"/>
            <a:ext cx="0" cy="491430"/>
          </a:xfrm>
          <a:prstGeom prst="straightConnector1">
            <a:avLst/>
          </a:prstGeom>
          <a:noFill/>
          <a:ln cap="flat" cmpd="sng" w="381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13"/>
          <p:cNvSpPr/>
          <p:nvPr/>
        </p:nvSpPr>
        <p:spPr>
          <a:xfrm>
            <a:off x="5734050" y="1841004"/>
            <a:ext cx="3167253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Step 2:</a:t>
            </a:r>
            <a:r>
              <a:rPr b="0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 Distribute to edge nodes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5543550" y="2332434"/>
            <a:ext cx="3448050" cy="491430"/>
          </a:xfrm>
          <a:prstGeom prst="roundRect">
            <a:avLst>
              <a:gd fmla="val 15506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13"/>
          <p:cNvCxnSpPr/>
          <p:nvPr/>
        </p:nvCxnSpPr>
        <p:spPr>
          <a:xfrm>
            <a:off x="5562600" y="2332434"/>
            <a:ext cx="0" cy="491430"/>
          </a:xfrm>
          <a:prstGeom prst="straightConnector1">
            <a:avLst/>
          </a:prstGeom>
          <a:noFill/>
          <a:ln cap="flat" cmpd="sng" w="381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13"/>
          <p:cNvSpPr/>
          <p:nvPr/>
        </p:nvSpPr>
        <p:spPr>
          <a:xfrm>
            <a:off x="5734050" y="2484834"/>
            <a:ext cx="3167253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Step 3:</a:t>
            </a:r>
            <a:r>
              <a:rPr b="0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 Train locally on each node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5543550" y="2976265"/>
            <a:ext cx="3448050" cy="491430"/>
          </a:xfrm>
          <a:prstGeom prst="roundRect">
            <a:avLst>
              <a:gd fmla="val 15506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13"/>
          <p:cNvCxnSpPr/>
          <p:nvPr/>
        </p:nvCxnSpPr>
        <p:spPr>
          <a:xfrm>
            <a:off x="5562600" y="2976265"/>
            <a:ext cx="0" cy="491430"/>
          </a:xfrm>
          <a:prstGeom prst="straightConnector1">
            <a:avLst/>
          </a:prstGeom>
          <a:noFill/>
          <a:ln cap="flat" cmpd="sng" w="381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13"/>
          <p:cNvSpPr/>
          <p:nvPr/>
        </p:nvSpPr>
        <p:spPr>
          <a:xfrm>
            <a:off x="5734050" y="3128665"/>
            <a:ext cx="3167253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Step 4:</a:t>
            </a:r>
            <a:r>
              <a:rPr b="0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 Send updates (not data!)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5543550" y="3620095"/>
            <a:ext cx="3448050" cy="491430"/>
          </a:xfrm>
          <a:prstGeom prst="roundRect">
            <a:avLst>
              <a:gd fmla="val 15506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13"/>
          <p:cNvCxnSpPr/>
          <p:nvPr/>
        </p:nvCxnSpPr>
        <p:spPr>
          <a:xfrm>
            <a:off x="5562600" y="3620095"/>
            <a:ext cx="0" cy="491430"/>
          </a:xfrm>
          <a:prstGeom prst="straightConnector1">
            <a:avLst/>
          </a:prstGeom>
          <a:noFill/>
          <a:ln cap="flat" cmpd="sng" w="381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13"/>
          <p:cNvSpPr/>
          <p:nvPr/>
        </p:nvSpPr>
        <p:spPr>
          <a:xfrm>
            <a:off x="5734050" y="3772495"/>
            <a:ext cx="3167253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Step 5:</a:t>
            </a:r>
            <a:r>
              <a:rPr b="0" i="0" lang="en-US" sz="10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 Aggregate &amp; update global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5543550" y="4263926"/>
            <a:ext cx="3448050" cy="478036"/>
          </a:xfrm>
          <a:prstGeom prst="roundRect">
            <a:avLst>
              <a:gd fmla="val 1594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13"/>
          <p:cNvCxnSpPr/>
          <p:nvPr/>
        </p:nvCxnSpPr>
        <p:spPr>
          <a:xfrm>
            <a:off x="5562600" y="4263926"/>
            <a:ext cx="0" cy="478036"/>
          </a:xfrm>
          <a:prstGeom prst="straightConnector1">
            <a:avLst/>
          </a:prstGeom>
          <a:noFill/>
          <a:ln cap="flat" cmpd="sng" w="381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13"/>
          <p:cNvSpPr/>
          <p:nvPr/>
        </p:nvSpPr>
        <p:spPr>
          <a:xfrm>
            <a:off x="5734050" y="4416326"/>
            <a:ext cx="3167253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🔄 Repeat cycle until convergence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/>
          <p:nvPr/>
        </p:nvSpPr>
        <p:spPr>
          <a:xfrm>
            <a:off x="152400" y="152400"/>
            <a:ext cx="5022914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Distributed Inference Architecture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svg-c10a844c.png" id="164" name="Google Shape;1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795784"/>
            <a:ext cx="8096250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"/>
          <p:cNvSpPr/>
          <p:nvPr/>
        </p:nvSpPr>
        <p:spPr>
          <a:xfrm>
            <a:off x="152400" y="152400"/>
            <a:ext cx="4517708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Traditional MLOps Pipeline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svg-1644a3a5.png" id="171" name="Google Shape;1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795784"/>
            <a:ext cx="8096250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/>
          <p:nvPr/>
        </p:nvSpPr>
        <p:spPr>
          <a:xfrm>
            <a:off x="152400" y="152400"/>
            <a:ext cx="4517708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Ratio1 Pipeline Concept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svg-165f8c2e.png" id="178" name="Google Shape;17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795784"/>
            <a:ext cx="80962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/>
          <p:nvPr/>
        </p:nvSpPr>
        <p:spPr>
          <a:xfrm>
            <a:off x="152400" y="152400"/>
            <a:ext cx="4517708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Pipeline Comparison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108966" y="912465"/>
            <a:ext cx="44302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Traditional Centralized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152400" y="1407765"/>
            <a:ext cx="4343400" cy="714226"/>
          </a:xfrm>
          <a:prstGeom prst="roundRect">
            <a:avLst>
              <a:gd fmla="val 10669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17"/>
          <p:cNvCxnSpPr/>
          <p:nvPr/>
        </p:nvCxnSpPr>
        <p:spPr>
          <a:xfrm>
            <a:off x="171450" y="1407765"/>
            <a:ext cx="0" cy="714226"/>
          </a:xfrm>
          <a:prstGeom prst="straightConnector1">
            <a:avLst/>
          </a:prstGeom>
          <a:noFill/>
          <a:ln cap="flat" cmpd="sng" w="381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7"/>
          <p:cNvSpPr/>
          <p:nvPr/>
        </p:nvSpPr>
        <p:spPr>
          <a:xfrm>
            <a:off x="342900" y="1560165"/>
            <a:ext cx="408051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🔴 Tightly Coupled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342900" y="1809601"/>
            <a:ext cx="408051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All stages depend on each other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152400" y="2274391"/>
            <a:ext cx="4343400" cy="714226"/>
          </a:xfrm>
          <a:prstGeom prst="roundRect">
            <a:avLst>
              <a:gd fmla="val 10669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17"/>
          <p:cNvCxnSpPr/>
          <p:nvPr/>
        </p:nvCxnSpPr>
        <p:spPr>
          <a:xfrm>
            <a:off x="171450" y="2274391"/>
            <a:ext cx="0" cy="714226"/>
          </a:xfrm>
          <a:prstGeom prst="straightConnector1">
            <a:avLst/>
          </a:prstGeom>
          <a:noFill/>
          <a:ln cap="flat" cmpd="sng" w="381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17"/>
          <p:cNvSpPr/>
          <p:nvPr/>
        </p:nvSpPr>
        <p:spPr>
          <a:xfrm>
            <a:off x="342900" y="2426791"/>
            <a:ext cx="408051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🔴 Data Centralization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342900" y="2676227"/>
            <a:ext cx="408051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Must collect all data first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152400" y="3141018"/>
            <a:ext cx="4343400" cy="714226"/>
          </a:xfrm>
          <a:prstGeom prst="roundRect">
            <a:avLst>
              <a:gd fmla="val 10669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17"/>
          <p:cNvCxnSpPr/>
          <p:nvPr/>
        </p:nvCxnSpPr>
        <p:spPr>
          <a:xfrm>
            <a:off x="171450" y="3141018"/>
            <a:ext cx="0" cy="714226"/>
          </a:xfrm>
          <a:prstGeom prst="straightConnector1">
            <a:avLst/>
          </a:prstGeom>
          <a:noFill/>
          <a:ln cap="flat" cmpd="sng" w="381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17"/>
          <p:cNvSpPr/>
          <p:nvPr/>
        </p:nvSpPr>
        <p:spPr>
          <a:xfrm>
            <a:off x="342900" y="3293418"/>
            <a:ext cx="408051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🔴 Manual Orchestration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342900" y="3542854"/>
            <a:ext cx="408051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Airflow, Kubeflow, custom scripts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152400" y="4007644"/>
            <a:ext cx="4343400" cy="714226"/>
          </a:xfrm>
          <a:prstGeom prst="roundRect">
            <a:avLst>
              <a:gd fmla="val 10669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17"/>
          <p:cNvCxnSpPr/>
          <p:nvPr/>
        </p:nvCxnSpPr>
        <p:spPr>
          <a:xfrm>
            <a:off x="171450" y="4007644"/>
            <a:ext cx="0" cy="714226"/>
          </a:xfrm>
          <a:prstGeom prst="straightConnector1">
            <a:avLst/>
          </a:prstGeom>
          <a:noFill/>
          <a:ln cap="flat" cmpd="sng" w="381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17"/>
          <p:cNvSpPr/>
          <p:nvPr/>
        </p:nvSpPr>
        <p:spPr>
          <a:xfrm>
            <a:off x="342900" y="4160044"/>
            <a:ext cx="408051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🔴 Separate Deploy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342900" y="4409480"/>
            <a:ext cx="408051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Training and serving are different systems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4604766" y="912465"/>
            <a:ext cx="44302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Ratio1 Decentralized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4648200" y="1407765"/>
            <a:ext cx="4343400" cy="714226"/>
          </a:xfrm>
          <a:prstGeom prst="roundRect">
            <a:avLst>
              <a:gd fmla="val 10669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17"/>
          <p:cNvCxnSpPr/>
          <p:nvPr/>
        </p:nvCxnSpPr>
        <p:spPr>
          <a:xfrm>
            <a:off x="4667250" y="1407765"/>
            <a:ext cx="0" cy="714226"/>
          </a:xfrm>
          <a:prstGeom prst="straightConnector1">
            <a:avLst/>
          </a:prstGeom>
          <a:noFill/>
          <a:ln cap="flat" cmpd="sng" w="381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17"/>
          <p:cNvSpPr/>
          <p:nvPr/>
        </p:nvSpPr>
        <p:spPr>
          <a:xfrm>
            <a:off x="4838700" y="1560165"/>
            <a:ext cx="408051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✅ Modular Plugins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4838700" y="1809601"/>
            <a:ext cx="408051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Independent, reusable components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4648200" y="2274391"/>
            <a:ext cx="4343400" cy="714226"/>
          </a:xfrm>
          <a:prstGeom prst="roundRect">
            <a:avLst>
              <a:gd fmla="val 10669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17"/>
          <p:cNvCxnSpPr/>
          <p:nvPr/>
        </p:nvCxnSpPr>
        <p:spPr>
          <a:xfrm>
            <a:off x="4667250" y="2274391"/>
            <a:ext cx="0" cy="714226"/>
          </a:xfrm>
          <a:prstGeom prst="straightConnector1">
            <a:avLst/>
          </a:prstGeom>
          <a:noFill/>
          <a:ln cap="flat" cmpd="sng" w="381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17"/>
          <p:cNvSpPr/>
          <p:nvPr/>
        </p:nvSpPr>
        <p:spPr>
          <a:xfrm>
            <a:off x="4838700" y="2426791"/>
            <a:ext cx="408051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✅ Data at Source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4838700" y="2676227"/>
            <a:ext cx="408051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Process where data originates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4648200" y="3141018"/>
            <a:ext cx="4343400" cy="714226"/>
          </a:xfrm>
          <a:prstGeom prst="roundRect">
            <a:avLst>
              <a:gd fmla="val 10669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17"/>
          <p:cNvCxnSpPr/>
          <p:nvPr/>
        </p:nvCxnSpPr>
        <p:spPr>
          <a:xfrm>
            <a:off x="4667250" y="3141018"/>
            <a:ext cx="0" cy="714226"/>
          </a:xfrm>
          <a:prstGeom prst="straightConnector1">
            <a:avLst/>
          </a:prstGeom>
          <a:noFill/>
          <a:ln cap="flat" cmpd="sng" w="381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17"/>
          <p:cNvSpPr/>
          <p:nvPr/>
        </p:nvSpPr>
        <p:spPr>
          <a:xfrm>
            <a:off x="4838700" y="3293418"/>
            <a:ext cx="408051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✅ Auto Orchestration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4838700" y="3542854"/>
            <a:ext cx="408051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Built-in pipeline management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4648200" y="4007644"/>
            <a:ext cx="4343400" cy="714226"/>
          </a:xfrm>
          <a:prstGeom prst="roundRect">
            <a:avLst>
              <a:gd fmla="val 10669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17"/>
          <p:cNvCxnSpPr/>
          <p:nvPr/>
        </p:nvCxnSpPr>
        <p:spPr>
          <a:xfrm>
            <a:off x="4667250" y="4007644"/>
            <a:ext cx="0" cy="714226"/>
          </a:xfrm>
          <a:prstGeom prst="straightConnector1">
            <a:avLst/>
          </a:prstGeom>
          <a:noFill/>
          <a:ln cap="flat" cmpd="sng" w="381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17"/>
          <p:cNvSpPr/>
          <p:nvPr/>
        </p:nvSpPr>
        <p:spPr>
          <a:xfrm>
            <a:off x="4838700" y="4160044"/>
            <a:ext cx="408051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✅ Unified Runtime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4838700" y="4409480"/>
            <a:ext cx="408051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Same environment for train and serve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/>
          <p:nvPr/>
        </p:nvSpPr>
        <p:spPr>
          <a:xfrm>
            <a:off x="152400" y="152400"/>
            <a:ext cx="4517708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Plugin Architecture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svg-b6176cb3.png" id="225" name="Google Shape;2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795784"/>
            <a:ext cx="8096250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/>
          <p:nvPr/>
        </p:nvSpPr>
        <p:spPr>
          <a:xfrm>
            <a:off x="152400" y="152400"/>
            <a:ext cx="4517708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Development Workflow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svg-ec3872d6.png" id="232" name="Google Shape;2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795784"/>
            <a:ext cx="8096250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152400" y="152400"/>
            <a:ext cx="4517708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Building Your First Pipeline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svg-68b31da6.png" id="239" name="Google Shape;23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795784"/>
            <a:ext cx="8096250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"/>
          <p:cNvSpPr/>
          <p:nvPr/>
        </p:nvSpPr>
        <p:spPr>
          <a:xfrm>
            <a:off x="152400" y="152400"/>
            <a:ext cx="4517708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Security &amp; Trust Architecture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svg-58834c92.png" id="246" name="Google Shape;2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795784"/>
            <a:ext cx="8096250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/>
          <p:nvPr/>
        </p:nvSpPr>
        <p:spPr>
          <a:xfrm>
            <a:off x="152400" y="152400"/>
            <a:ext cx="4517708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Best Practices &amp; When to Use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152400" y="1263997"/>
            <a:ext cx="4430268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✅ Design Principles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152400" y="1541264"/>
            <a:ext cx="4343400" cy="342751"/>
          </a:xfrm>
          <a:prstGeom prst="roundRect">
            <a:avLst>
              <a:gd fmla="val 22232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23"/>
          <p:cNvCxnSpPr/>
          <p:nvPr/>
        </p:nvCxnSpPr>
        <p:spPr>
          <a:xfrm>
            <a:off x="166688" y="1541264"/>
            <a:ext cx="0" cy="342751"/>
          </a:xfrm>
          <a:prstGeom prst="straightConnector1">
            <a:avLst/>
          </a:prstGeom>
          <a:noFill/>
          <a:ln cap="flat" cmpd="sng" w="285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23"/>
          <p:cNvSpPr/>
          <p:nvPr/>
        </p:nvSpPr>
        <p:spPr>
          <a:xfrm>
            <a:off x="272355" y="1632645"/>
            <a:ext cx="421470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Keep plugins simple and focused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152400" y="1960215"/>
            <a:ext cx="4343400" cy="342751"/>
          </a:xfrm>
          <a:prstGeom prst="roundRect">
            <a:avLst>
              <a:gd fmla="val 22232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23"/>
          <p:cNvCxnSpPr/>
          <p:nvPr/>
        </p:nvCxnSpPr>
        <p:spPr>
          <a:xfrm>
            <a:off x="166688" y="1960215"/>
            <a:ext cx="0" cy="342751"/>
          </a:xfrm>
          <a:prstGeom prst="straightConnector1">
            <a:avLst/>
          </a:prstGeom>
          <a:noFill/>
          <a:ln cap="flat" cmpd="sng" w="285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23"/>
          <p:cNvSpPr/>
          <p:nvPr/>
        </p:nvSpPr>
        <p:spPr>
          <a:xfrm>
            <a:off x="272355" y="2051596"/>
            <a:ext cx="421470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Design for failure (nodes can go offline)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152400" y="2379166"/>
            <a:ext cx="4343400" cy="342751"/>
          </a:xfrm>
          <a:prstGeom prst="roundRect">
            <a:avLst>
              <a:gd fmla="val 22232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23"/>
          <p:cNvCxnSpPr/>
          <p:nvPr/>
        </p:nvCxnSpPr>
        <p:spPr>
          <a:xfrm>
            <a:off x="166688" y="2379166"/>
            <a:ext cx="0" cy="342751"/>
          </a:xfrm>
          <a:prstGeom prst="straightConnector1">
            <a:avLst/>
          </a:prstGeom>
          <a:noFill/>
          <a:ln cap="flat" cmpd="sng" w="285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23"/>
          <p:cNvSpPr/>
          <p:nvPr/>
        </p:nvSpPr>
        <p:spPr>
          <a:xfrm>
            <a:off x="272355" y="2470547"/>
            <a:ext cx="421470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Minimize data movement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152400" y="2798118"/>
            <a:ext cx="4343400" cy="342751"/>
          </a:xfrm>
          <a:prstGeom prst="roundRect">
            <a:avLst>
              <a:gd fmla="val 22232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23"/>
          <p:cNvCxnSpPr/>
          <p:nvPr/>
        </p:nvCxnSpPr>
        <p:spPr>
          <a:xfrm>
            <a:off x="166688" y="2798118"/>
            <a:ext cx="0" cy="342751"/>
          </a:xfrm>
          <a:prstGeom prst="straightConnector1">
            <a:avLst/>
          </a:prstGeom>
          <a:noFill/>
          <a:ln cap="flat" cmpd="sng" w="285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23"/>
          <p:cNvSpPr/>
          <p:nvPr/>
        </p:nvSpPr>
        <p:spPr>
          <a:xfrm>
            <a:off x="272355" y="2889498"/>
            <a:ext cx="421470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Monitor everything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152400" y="3331369"/>
            <a:ext cx="4430268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❌ Common Pitfalls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152400" y="3608636"/>
            <a:ext cx="4343400" cy="342751"/>
          </a:xfrm>
          <a:prstGeom prst="roundRect">
            <a:avLst>
              <a:gd fmla="val 22232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23"/>
          <p:cNvCxnSpPr/>
          <p:nvPr/>
        </p:nvCxnSpPr>
        <p:spPr>
          <a:xfrm>
            <a:off x="166688" y="3608636"/>
            <a:ext cx="0" cy="342751"/>
          </a:xfrm>
          <a:prstGeom prst="straightConnector1">
            <a:avLst/>
          </a:prstGeom>
          <a:noFill/>
          <a:ln cap="flat" cmpd="sng" w="285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23"/>
          <p:cNvSpPr/>
          <p:nvPr/>
        </p:nvSpPr>
        <p:spPr>
          <a:xfrm>
            <a:off x="272355" y="3700016"/>
            <a:ext cx="421470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Assuming all nodes always available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152400" y="4027587"/>
            <a:ext cx="4343400" cy="342751"/>
          </a:xfrm>
          <a:prstGeom prst="roundRect">
            <a:avLst>
              <a:gd fmla="val 22232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23"/>
          <p:cNvCxnSpPr/>
          <p:nvPr/>
        </p:nvCxnSpPr>
        <p:spPr>
          <a:xfrm>
            <a:off x="166688" y="4027587"/>
            <a:ext cx="0" cy="342751"/>
          </a:xfrm>
          <a:prstGeom prst="straightConnector1">
            <a:avLst/>
          </a:prstGeom>
          <a:noFill/>
          <a:ln cap="flat" cmpd="sng" w="285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23"/>
          <p:cNvSpPr/>
          <p:nvPr/>
        </p:nvSpPr>
        <p:spPr>
          <a:xfrm>
            <a:off x="272355" y="4118967"/>
            <a:ext cx="421470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Sending too much data over network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4648200" y="1244947"/>
            <a:ext cx="4430268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✅ When to Use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4648200" y="1522214"/>
            <a:ext cx="4343400" cy="342751"/>
          </a:xfrm>
          <a:prstGeom prst="roundRect">
            <a:avLst>
              <a:gd fmla="val 22232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4739580" y="1613595"/>
            <a:ext cx="424385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Privacy is critical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4648200" y="1941165"/>
            <a:ext cx="4343400" cy="342751"/>
          </a:xfrm>
          <a:prstGeom prst="roundRect">
            <a:avLst>
              <a:gd fmla="val 22232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4739580" y="2032546"/>
            <a:ext cx="424385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Data is distributed geographically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4648200" y="2360116"/>
            <a:ext cx="4343400" cy="342751"/>
          </a:xfrm>
          <a:prstGeom prst="roundRect">
            <a:avLst>
              <a:gd fmla="val 22232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4739580" y="2451497"/>
            <a:ext cx="424385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Cost is major factor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4648200" y="2779068"/>
            <a:ext cx="4343400" cy="342751"/>
          </a:xfrm>
          <a:prstGeom prst="roundRect">
            <a:avLst>
              <a:gd fmla="val 22232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4739580" y="2870448"/>
            <a:ext cx="424385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Need resilience &amp; redundancy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4648200" y="3312319"/>
            <a:ext cx="4430268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❌ When NOT to Use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4648200" y="3589586"/>
            <a:ext cx="4343400" cy="361801"/>
          </a:xfrm>
          <a:prstGeom prst="roundRect">
            <a:avLst>
              <a:gd fmla="val 21061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4749105" y="3690491"/>
            <a:ext cx="422442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Simple, small-scale problems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4648200" y="4027587"/>
            <a:ext cx="4343400" cy="361801"/>
          </a:xfrm>
          <a:prstGeom prst="roundRect">
            <a:avLst>
              <a:gd fmla="val 21061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4749105" y="4128492"/>
            <a:ext cx="422442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Centralized working fine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g3a1f735c86f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50" y="1357925"/>
            <a:ext cx="864870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g3a1f735c86f_0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150" y="123175"/>
            <a:ext cx="75057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g3a1f735c86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8925" y="181625"/>
            <a:ext cx="4777452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2025-11-10T11:40:05Z</dcterms:created>
  <dc:creator>Prof. Andrei Ionut DAMIAN</dc:creator>
</cp:coreProperties>
</file>