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Arial Black" panose="020B0A0402010202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9c659af32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9c659af32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9c659af3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49c659af3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9c659af32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49c659af32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9c659af3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9c659af32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9c659af32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49c659af32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9c659af32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49c659af32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9c659af3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49c659af3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9c659af32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49c659af32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83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GB"/>
          </a:p>
        </p:txBody>
      </p:sp>
      <p:cxnSp>
        <p:nvCxnSpPr>
          <p:cNvPr id="23" name="Google Shape;23;p3"/>
          <p:cNvCxnSpPr/>
          <p:nvPr/>
        </p:nvCxnSpPr>
        <p:spPr>
          <a:xfrm>
            <a:off x="297180" y="898446"/>
            <a:ext cx="11658600" cy="0"/>
          </a:xfrm>
          <a:prstGeom prst="straightConnector1">
            <a:avLst/>
          </a:prstGeom>
          <a:noFill/>
          <a:ln w="28575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DAF713F-6E58-6046-525E-0E5902E2FD53}"/>
              </a:ext>
            </a:extLst>
          </p:cNvPr>
          <p:cNvSpPr txBox="1"/>
          <p:nvPr userDrawn="1"/>
        </p:nvSpPr>
        <p:spPr>
          <a:xfrm>
            <a:off x="6711519" y="6657101"/>
            <a:ext cx="5480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Slides available at https://github.com/NaeuralEdgeProtocol/DS101-2024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53940" y="469127"/>
            <a:ext cx="11084119" cy="393589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Data Science </a:t>
            </a:r>
            <a:b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with </a:t>
            </a:r>
            <a:b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Deep Learning</a:t>
            </a:r>
            <a:endParaRPr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667123" y="4309606"/>
            <a:ext cx="9144000" cy="151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dirty="0"/>
              <a:t>From dataset understanding to result presentation and how to employ deep acyclic graph models in Predictive Analytics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457855" y="-11211"/>
            <a:ext cx="72892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DS101 2025-2026 Lecture 8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900361" y="6204207"/>
            <a:ext cx="366555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Andrei Ionut DAMIAN</a:t>
            </a:r>
            <a:endParaRPr dirty="0"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CF3C1DE1-E656-EDB8-B0F2-33C2EEBA8345}"/>
              </a:ext>
            </a:extLst>
          </p:cNvPr>
          <p:cNvSpPr txBox="1"/>
          <p:nvPr/>
        </p:nvSpPr>
        <p:spPr>
          <a:xfrm>
            <a:off x="7972507" y="6188818"/>
            <a:ext cx="366555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As. Vitalii TODERIAN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83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Operational stuff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72862" y="896382"/>
            <a:ext cx="11731674" cy="5591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Lets check the </a:t>
            </a:r>
            <a:r>
              <a:rPr lang="en-US" sz="3600"/>
              <a:t>Google Sheets </a:t>
            </a:r>
            <a:r>
              <a:rPr lang="en-US" sz="3600">
                <a:sym typeface="Wingdings" panose="05000000000000000000" pitchFamily="2" charset="2"/>
              </a:rPr>
              <a:t></a:t>
            </a:r>
            <a:endParaRPr lang="en-US" sz="3600"/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Mandatory paper: today (15’) – who ?</a:t>
            </a:r>
            <a:endParaRPr dirty="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Projects examination dates CLEAR 😟:</a:t>
            </a:r>
          </a:p>
          <a:p>
            <a:pPr marL="685800" lvl="1" indent="-228600">
              <a:lnSpc>
                <a:spcPct val="150000"/>
              </a:lnSpc>
              <a:spcBef>
                <a:spcPts val="1000"/>
              </a:spcBef>
              <a:buSzPts val="3600"/>
            </a:pPr>
            <a:r>
              <a:rPr lang="en-US" sz="3200" dirty="0"/>
              <a:t>Good data</a:t>
            </a:r>
          </a:p>
          <a:p>
            <a:pPr marL="1143000" lvl="2" indent="-228600">
              <a:lnSpc>
                <a:spcPct val="150000"/>
              </a:lnSpc>
              <a:spcBef>
                <a:spcPts val="1000"/>
              </a:spcBef>
              <a:buSzPts val="3600"/>
            </a:pPr>
            <a:r>
              <a:rPr lang="en-US" sz="2800" dirty="0"/>
              <a:t>Preferably </a:t>
            </a:r>
            <a:r>
              <a:rPr lang="en-US" sz="2800" b="1" dirty="0">
                <a:highlight>
                  <a:srgbClr val="FF0000"/>
                </a:highlight>
              </a:rPr>
              <a:t>not</a:t>
            </a:r>
            <a:r>
              <a:rPr lang="en-US" sz="2800" b="1" dirty="0"/>
              <a:t> from Kaggle, UCLA, etc</a:t>
            </a:r>
            <a:r>
              <a:rPr lang="en-US" sz="2800" dirty="0"/>
              <a:t>.</a:t>
            </a:r>
          </a:p>
          <a:p>
            <a:pPr marL="1143000" lvl="2" indent="-228600">
              <a:lnSpc>
                <a:spcPct val="150000"/>
              </a:lnSpc>
              <a:spcBef>
                <a:spcPts val="1000"/>
              </a:spcBef>
              <a:buSzPts val="3600"/>
            </a:pPr>
            <a:r>
              <a:rPr lang="en-US" sz="2800" dirty="0"/>
              <a:t>Scrap it from website or take it from work</a:t>
            </a:r>
          </a:p>
          <a:p>
            <a:pPr marL="685800" lvl="1" indent="-228600">
              <a:lnSpc>
                <a:spcPct val="150000"/>
              </a:lnSpc>
              <a:spcBef>
                <a:spcPts val="1000"/>
              </a:spcBef>
              <a:buSzPts val="3600"/>
            </a:pPr>
            <a:r>
              <a:rPr lang="en-US" sz="3200" dirty="0"/>
              <a:t>Full pipeline: ETL, pre-proc, modeling and finally serving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Framing the problem: Recommender systems</a:t>
            </a:r>
            <a:endParaRPr dirty="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850" y="1351680"/>
            <a:ext cx="9239250" cy="52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83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A new framing: </a:t>
            </a:r>
            <a:r>
              <a:rPr lang="en-US" sz="2590" b="1"/>
              <a:t>Customer propensity to buy a certain product</a:t>
            </a:r>
            <a:r>
              <a:rPr lang="en-US" sz="2590"/>
              <a:t>:</a:t>
            </a:r>
            <a:endParaRPr sz="259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457200" lvl="0" indent="-39306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90"/>
              <a:buChar char="❖"/>
            </a:pPr>
            <a:r>
              <a:rPr lang="en-US" sz="2590"/>
              <a:t>Many problems to ask</a:t>
            </a:r>
            <a:endParaRPr sz="2590"/>
          </a:p>
          <a:p>
            <a:pPr marL="457200" lvl="0" indent="-39306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90"/>
              <a:buChar char="❖"/>
            </a:pPr>
            <a:r>
              <a:rPr lang="en-US" sz="2590"/>
              <a:t>Many issues to solve</a:t>
            </a:r>
            <a:endParaRPr sz="2590"/>
          </a:p>
          <a:p>
            <a:pPr marL="457200" lvl="0" indent="-39306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90"/>
              <a:buChar char="❖"/>
            </a:pPr>
            <a:r>
              <a:rPr lang="en-US" sz="2590"/>
              <a:t>Different views can yield quite different results and performance</a:t>
            </a:r>
            <a:endParaRPr sz="2590"/>
          </a:p>
          <a:p>
            <a:pPr marL="457200" lvl="0" indent="-39306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90"/>
              <a:buChar char="❖"/>
            </a:pPr>
            <a:r>
              <a:rPr lang="en-US" sz="2590"/>
              <a:t>At the end of the day the real life use is what counts</a:t>
            </a:r>
            <a:endParaRPr sz="259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Individual vs group vs all?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Individual consumer a potential candidate for modelling?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Group similar customers so we can save processing time?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Drop customers, analyze only buying trends?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All these questions change the actual model pipeline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Individual vs group vs all?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Regression vs Classification?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Are we going to need a prediction of quantity or value?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Better a probability of buying the product/service 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Direct model impact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Framing the problem: Recommender system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225" y="1023926"/>
            <a:ext cx="6907544" cy="58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Individual vs group vs all?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Regression vs Classification?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When or how much?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Do we aim for when the customer will buy?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Or if / how much will do?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Data flow is impacted. Model could actually be agnostic!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Individual vs group vs all?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Regression vs Classification?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When or how much?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Simple vs complex?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Simple collaborative filtering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i="1"/>
              <a:t>Complex neural network or generative model?</a:t>
            </a:r>
            <a:endParaRPr sz="2590" i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Again, model-changing decisions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Individual vs group vs all?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Regression vs Classification?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When or how much?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Simple vs complex?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Features correlation vs time-series oriented?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More model architecture decision but also data flow!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297180" y="200899"/>
            <a:ext cx="11658600" cy="695400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Framing the problem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Customer propensity to buy a certain product</a:t>
            </a:r>
            <a:endParaRPr sz="259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Individual vs group vs all?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Regression vs Classification?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When or how much?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Simple vs complex?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/>
              <a:t>Features correlation vs time-series oriented?</a:t>
            </a:r>
            <a:endParaRPr/>
          </a:p>
          <a:p>
            <a:pPr marL="914400" lvl="1" indent="-457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US" sz="2590" b="1"/>
              <a:t>Latent patterns vs fixed customer model?</a:t>
            </a:r>
            <a:endParaRPr sz="2590" b="1"/>
          </a:p>
          <a:p>
            <a:pPr marL="1143000" lvl="2" indent="-278764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2590"/>
              <a:buChar char="•"/>
            </a:pPr>
            <a:r>
              <a:rPr lang="en-US" sz="2590" b="1"/>
              <a:t>One model per customer or better learn inter-customer patterns?</a:t>
            </a:r>
            <a:endParaRPr sz="2590" b="1"/>
          </a:p>
          <a:p>
            <a:pPr marL="685800" lvl="1" indent="-8763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endParaRPr sz="22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0B5E-C974-4066-8C8C-3D550AE5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Hands-on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6FBDE-4210-45F5-A07C-B72B8C5E7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4988"/>
            <a:ext cx="10515600" cy="5535407"/>
          </a:xfrm>
        </p:spPr>
        <p:txBody>
          <a:bodyPr/>
          <a:lstStyle/>
          <a:p>
            <a:r>
              <a:rPr lang="en-US" sz="3600" dirty="0"/>
              <a:t>Beyond recommender systems…</a:t>
            </a:r>
          </a:p>
          <a:p>
            <a:pPr lvl="1"/>
            <a:r>
              <a:rPr lang="en-US" sz="3200" dirty="0"/>
              <a:t>We generate the data</a:t>
            </a:r>
          </a:p>
          <a:p>
            <a:pPr lvl="1"/>
            <a:r>
              <a:rPr lang="en-US" sz="3200" dirty="0"/>
              <a:t>We pre-process the data</a:t>
            </a:r>
          </a:p>
          <a:p>
            <a:pPr lvl="1"/>
            <a:r>
              <a:rPr lang="en-US" sz="3200" dirty="0"/>
              <a:t>We create a simple linear regression model</a:t>
            </a:r>
          </a:p>
          <a:p>
            <a:pPr lvl="1"/>
            <a:r>
              <a:rPr lang="en-US" sz="3200" dirty="0"/>
              <a:t>Do we have good results?</a:t>
            </a:r>
          </a:p>
          <a:p>
            <a:pPr lvl="2"/>
            <a:r>
              <a:rPr lang="en-US" sz="2800" dirty="0"/>
              <a:t>Can we improve?</a:t>
            </a:r>
          </a:p>
          <a:p>
            <a:pPr lvl="2"/>
            <a:r>
              <a:rPr lang="en-US" sz="2800" dirty="0"/>
              <a:t>Quick review!</a:t>
            </a:r>
          </a:p>
          <a:p>
            <a:pPr lvl="1"/>
            <a:r>
              <a:rPr lang="en-US" sz="3200" dirty="0"/>
              <a:t>Next steps: “Fork” the experiment</a:t>
            </a:r>
          </a:p>
          <a:p>
            <a:pPr lvl="1"/>
            <a:r>
              <a:rPr lang="en-US" sz="3200" dirty="0"/>
              <a:t>Next steps: Simple neural model</a:t>
            </a:r>
          </a:p>
          <a:p>
            <a:pPr lvl="1"/>
            <a:r>
              <a:rPr lang="en-US" sz="3200" dirty="0"/>
              <a:t>Next steps: Explain-ability &amp; byproducts</a:t>
            </a:r>
          </a:p>
        </p:txBody>
      </p:sp>
    </p:spTree>
    <p:extLst>
      <p:ext uri="{BB962C8B-B14F-4D97-AF65-F5344CB8AC3E}">
        <p14:creationId xmlns:p14="http://schemas.microsoft.com/office/powerpoint/2010/main" val="305956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862A-DF35-40ED-8989-25A98F61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7EDF-4601-4E67-93F1-890D9C3D9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endParaRPr lang="en-US" sz="6000"/>
          </a:p>
          <a:p>
            <a:pPr marL="114300" indent="0" algn="ctr">
              <a:buNone/>
            </a:pPr>
            <a:r>
              <a:rPr lang="en-US" sz="6000"/>
              <a:t>Hands </a:t>
            </a:r>
            <a:r>
              <a:rPr lang="en-US" sz="60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89606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499</Words>
  <Application>Microsoft Office PowerPoint</Application>
  <PresentationFormat>Widescreen</PresentationFormat>
  <Paragraphs>90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Wingdings</vt:lpstr>
      <vt:lpstr>Calibri</vt:lpstr>
      <vt:lpstr>Arial</vt:lpstr>
      <vt:lpstr>Arial Black</vt:lpstr>
      <vt:lpstr>Courier New</vt:lpstr>
      <vt:lpstr>Office Theme</vt:lpstr>
      <vt:lpstr>Data Science  with  Deep Learning</vt:lpstr>
      <vt:lpstr>Operational stuff</vt:lpstr>
      <vt:lpstr>Framing the problem: Recommender systems</vt:lpstr>
      <vt:lpstr>Framing the problem</vt:lpstr>
      <vt:lpstr>Framing the problem</vt:lpstr>
      <vt:lpstr>Framing the problem</vt:lpstr>
      <vt:lpstr>Framing the problem: Recommender system</vt:lpstr>
      <vt:lpstr>Framing the problem</vt:lpstr>
      <vt:lpstr>Framing the problem</vt:lpstr>
      <vt:lpstr>Framing the problem</vt:lpstr>
      <vt:lpstr>Framing the problem</vt:lpstr>
      <vt:lpstr>Framing the problem: Hands-on</vt:lpstr>
      <vt:lpstr>Framing the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 with  Deep Learning</dc:title>
  <dc:creator>Andrei</dc:creator>
  <cp:lastModifiedBy> </cp:lastModifiedBy>
  <cp:revision>15</cp:revision>
  <dcterms:modified xsi:type="dcterms:W3CDTF">2026-01-19T14:05:00Z</dcterms:modified>
</cp:coreProperties>
</file>