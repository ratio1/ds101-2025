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87" r:id="rId3"/>
    <p:sldId id="324" r:id="rId4"/>
    <p:sldId id="304" r:id="rId5"/>
    <p:sldId id="312" r:id="rId6"/>
    <p:sldId id="317" r:id="rId7"/>
    <p:sldId id="318" r:id="rId8"/>
    <p:sldId id="314" r:id="rId9"/>
    <p:sldId id="315" r:id="rId10"/>
    <p:sldId id="316" r:id="rId11"/>
    <p:sldId id="325" r:id="rId12"/>
    <p:sldId id="319" r:id="rId13"/>
    <p:sldId id="322" r:id="rId14"/>
    <p:sldId id="326" r:id="rId15"/>
    <p:sldId id="289" r:id="rId16"/>
    <p:sldId id="295" r:id="rId17"/>
    <p:sldId id="291" r:id="rId18"/>
    <p:sldId id="292" r:id="rId19"/>
    <p:sldId id="293" r:id="rId20"/>
    <p:sldId id="294" r:id="rId21"/>
    <p:sldId id="301" r:id="rId22"/>
    <p:sldId id="306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B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8" d="100"/>
          <a:sy n="118" d="100"/>
        </p:scale>
        <p:origin x="610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F7764-CFF0-4137-88A3-796C2412C2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C83369-CEB4-4D79-8016-7181760020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0C6735-83CD-4E8B-A947-A6EE1B7C9F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27168-93E5-4C47-869C-987DB890A332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220F28-4F98-4C50-A895-BC6E2D4EA2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671595-424B-4F2D-9966-1D3FFDFCC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69CC7-68C8-4DA7-B90D-C41C66858B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6431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376D7-A30E-4E3F-A036-39899B199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7180" y="200899"/>
            <a:ext cx="11658600" cy="69548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8F24D8-2B01-431F-B507-4B40D51B82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D0CB36-3D63-4CED-9869-A87AA91A01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27168-93E5-4C47-869C-987DB890A332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BBA888-C8D7-4B04-A1C1-86AF08B124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28E90E-AC3F-4CA9-BA81-F115C54F4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69CC7-68C8-4DA7-B90D-C41C66858BD4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CDE7180-2E6F-4E9A-A488-B752BCD1B03F}"/>
              </a:ext>
            </a:extLst>
          </p:cNvPr>
          <p:cNvCxnSpPr>
            <a:cxnSpLocks/>
          </p:cNvCxnSpPr>
          <p:nvPr userDrawn="1"/>
        </p:nvCxnSpPr>
        <p:spPr>
          <a:xfrm>
            <a:off x="297180" y="898446"/>
            <a:ext cx="11658600" cy="0"/>
          </a:xfrm>
          <a:prstGeom prst="line">
            <a:avLst/>
          </a:prstGeom>
          <a:ln w="28575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13942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F5F922-93E1-4CC3-9F39-02A751BC14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67D2EC-3D86-4EE0-A43D-2FF83B3323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EB7C93-9018-4BC3-8A17-A9B56A6FD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27168-93E5-4C47-869C-987DB890A332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963B4A-1ACB-40FF-8BCE-D08DF7C2A6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F0C05E-BFFA-4219-ADA1-F751624E3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69CC7-68C8-4DA7-B90D-C41C66858B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1037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526460-A6E6-4E89-9BC1-949D9FCCB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0F0F3B-A6A5-4696-9F7F-DBDC93E8A6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72DB95-D18F-41AA-B2D9-E1DE129440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DC2693-399E-4C76-BEFC-4DF0F3FD3A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27168-93E5-4C47-869C-987DB890A332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D00030-6F0F-4EE8-8C5E-1F6120FDD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1359D3-363D-4084-86D3-CD41380B8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69CC7-68C8-4DA7-B90D-C41C66858B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5476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09D16-7081-4D47-881C-D4E3DA573E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7A32A7-0AA8-4410-8CB3-D9CDA3E599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232322-BA83-4E1B-881E-62B0353E3F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0C40A6-59C4-4745-9ABB-469BDF0CED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EFE9302-8AC5-4767-873C-E14E91D96F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C8DC61B-BA3B-4800-98B7-46084A2E8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27168-93E5-4C47-869C-987DB890A332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2915EB-6A6F-4A25-AE61-DA335AFBA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0BE3E0E-DE42-4FD0-A4FE-C5CE9F9AA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69CC7-68C8-4DA7-B90D-C41C66858B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0044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C2F037-4D84-44D7-ADB3-63B3738EF5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73DA5E9-37B2-464D-A9C2-9E009B099C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27168-93E5-4C47-869C-987DB890A332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03BF40-CDB7-4E16-973A-6A8EE7F8F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4B95D3-325B-4C81-A3A0-CEEE298DE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69CC7-68C8-4DA7-B90D-C41C66858B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1816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836732C-DD5F-45DF-9B52-6790E257E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27168-93E5-4C47-869C-987DB890A332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6E0BEB8-40A5-4A44-97D9-ADB843734C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10CE3B-5BC1-47D8-B914-2554D1A4E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69CC7-68C8-4DA7-B90D-C41C66858B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5590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9CE72-831A-4476-B890-6A3054E41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E51762-24EC-4823-A3DB-DB1D747C21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D6B0AF-2C40-4659-A5E7-177B6795F5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7F0696-7864-48FB-B517-676A479A0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27168-93E5-4C47-869C-987DB890A332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1579A-7E8C-4F93-96EE-7B00889AB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AB11B8-7009-4B58-94B8-ED7198DEA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69CC7-68C8-4DA7-B90D-C41C66858B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2590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1F2CD9-6646-4067-8158-1D0DF41E40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13567E3-3FDD-47C0-81F3-97D66224F5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CDB52F-266A-4105-92DF-F7C4C9B7EA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BDC5B1-6145-45E0-9C47-D32BF5F7A0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27168-93E5-4C47-869C-987DB890A332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203484-8B3B-4DED-8600-1CD0E5A86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3FD03D-45D5-4634-AB62-F0C43B914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69CC7-68C8-4DA7-B90D-C41C66858B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028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19EA5-1F88-4979-8101-C8CF8ED142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3C6765-5427-4720-8927-FB5D49DCA9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57A9C9-A1E9-4532-A3CF-BD1EBA82BE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27168-93E5-4C47-869C-987DB890A332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2AEF39-0A88-4E53-A3FE-D6CBC7074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A4DBA-CE95-4F9D-BA6D-50190DF43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69CC7-68C8-4DA7-B90D-C41C66858B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0229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58CEBA4-BDB4-4FE7-A23A-7796A75E3F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95FC6E-3E6F-49CB-9DC6-7F3C9A7D86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A5A6B6-3164-4BB9-82D5-2809B1C997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27168-93E5-4C47-869C-987DB890A332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641173-75E1-4B83-9628-5B9BECB13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C8045E-0952-45E4-BC69-F62C0D734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69CC7-68C8-4DA7-B90D-C41C66858B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908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895B76-BFE6-47F0-8B81-653E4C75BA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7180" y="260509"/>
            <a:ext cx="11658600" cy="983615"/>
          </a:xfrm>
          <a:prstGeom prst="rect">
            <a:avLst/>
          </a:prstGeom>
          <a:solidFill>
            <a:srgbClr val="FFFBEF"/>
          </a:solidFill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20B86C-4FF2-4534-A816-2E075E130E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3F02CE-3EA0-4DE8-9666-907C26447A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927168-93E5-4C47-869C-987DB890A332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2D2934-E0ED-4C3E-8BE9-59CAC9984E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20FDB5-68BC-4598-83DC-09B41977CF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269CC7-68C8-4DA7-B90D-C41C66858B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830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9838F-25CA-4100-B559-8E8F7DCD8F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3940" y="469127"/>
            <a:ext cx="11084119" cy="3935895"/>
          </a:xfrm>
        </p:spPr>
        <p:txBody>
          <a:bodyPr anchor="ctr" anchorCtr="1">
            <a:normAutofit/>
          </a:bodyPr>
          <a:lstStyle/>
          <a:p>
            <a:r>
              <a:rPr lang="en-US" b="1" dirty="0">
                <a:latin typeface="Arial Black" panose="020B0A04020102020204" pitchFamily="34" charset="0"/>
              </a:rPr>
              <a:t>Data Science </a:t>
            </a:r>
            <a:br>
              <a:rPr lang="en-US" b="1" dirty="0">
                <a:latin typeface="Arial Black" panose="020B0A04020102020204" pitchFamily="34" charset="0"/>
              </a:rPr>
            </a:br>
            <a:r>
              <a:rPr lang="en-US" b="1" dirty="0">
                <a:latin typeface="Arial Black" panose="020B0A04020102020204" pitchFamily="34" charset="0"/>
              </a:rPr>
              <a:t>with </a:t>
            </a:r>
            <a:br>
              <a:rPr lang="en-US" b="1" dirty="0">
                <a:latin typeface="Arial Black" panose="020B0A04020102020204" pitchFamily="34" charset="0"/>
              </a:rPr>
            </a:br>
            <a:r>
              <a:rPr lang="en-US" b="1" dirty="0">
                <a:latin typeface="Arial Black" panose="020B0A04020102020204" pitchFamily="34" charset="0"/>
              </a:rPr>
              <a:t>Deep Learning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285B46-8132-4E5F-ACE7-11FF1EEC9B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67123" y="4309606"/>
            <a:ext cx="9144000" cy="1518699"/>
          </a:xfrm>
        </p:spPr>
        <p:txBody>
          <a:bodyPr>
            <a:normAutofit/>
          </a:bodyPr>
          <a:lstStyle/>
          <a:p>
            <a:r>
              <a:rPr lang="en-US" sz="3200" b="1" dirty="0"/>
              <a:t>From dataset understanding to result presentation and how to employ deep acyclic graph models in Predictive Analytics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CD0C8E-DD29-4753-A269-63E83576B176}"/>
              </a:ext>
            </a:extLst>
          </p:cNvPr>
          <p:cNvSpPr txBox="1"/>
          <p:nvPr/>
        </p:nvSpPr>
        <p:spPr>
          <a:xfrm>
            <a:off x="4707172" y="-11211"/>
            <a:ext cx="27511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/>
              <a:t>DS101-2025-05</a:t>
            </a:r>
            <a:endParaRPr lang="en-US" sz="32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A2071C-300F-4785-90F7-15BFE228FD08}"/>
              </a:ext>
            </a:extLst>
          </p:cNvPr>
          <p:cNvSpPr txBox="1"/>
          <p:nvPr/>
        </p:nvSpPr>
        <p:spPr>
          <a:xfrm>
            <a:off x="1900361" y="6204207"/>
            <a:ext cx="36655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/>
              <a:t>Lec</a:t>
            </a:r>
            <a:r>
              <a:rPr lang="en-US" sz="2000" b="1" dirty="0"/>
              <a:t>. Andrei </a:t>
            </a:r>
            <a:r>
              <a:rPr lang="en-US" sz="2000" b="1" dirty="0" err="1"/>
              <a:t>Ionut</a:t>
            </a:r>
            <a:r>
              <a:rPr lang="en-US" sz="2000" b="1" dirty="0"/>
              <a:t> DAMIAN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397D9F-7B6A-4827-8B35-BC981AF2BDA4}"/>
              </a:ext>
            </a:extLst>
          </p:cNvPr>
          <p:cNvSpPr txBox="1"/>
          <p:nvPr/>
        </p:nvSpPr>
        <p:spPr>
          <a:xfrm>
            <a:off x="7760474" y="6204207"/>
            <a:ext cx="27034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As. Vitalii TODERIAN</a:t>
            </a:r>
          </a:p>
        </p:txBody>
      </p:sp>
    </p:spTree>
    <p:extLst>
      <p:ext uri="{BB962C8B-B14F-4D97-AF65-F5344CB8AC3E}">
        <p14:creationId xmlns:p14="http://schemas.microsoft.com/office/powerpoint/2010/main" val="34200126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2BBD7-C57C-42BB-ABC1-ECE6B66DA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Operational stuff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6486EA-B1AC-4E9E-BCDE-D930F34050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0736" y="1624726"/>
            <a:ext cx="11353800" cy="503237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600" dirty="0"/>
              <a:t>Repo/GitHub: ? (resources, </a:t>
            </a:r>
            <a:r>
              <a:rPr lang="en-US" sz="3600" dirty="0" err="1"/>
              <a:t>etc</a:t>
            </a:r>
            <a:r>
              <a:rPr lang="en-US" sz="3600"/>
              <a:t>)</a:t>
            </a:r>
          </a:p>
          <a:p>
            <a:pPr>
              <a:lnSpc>
                <a:spcPct val="150000"/>
              </a:lnSpc>
            </a:pPr>
            <a:r>
              <a:rPr lang="en-US" sz="3600" dirty="0"/>
              <a:t>Mandatory papers: clear ?</a:t>
            </a:r>
          </a:p>
          <a:p>
            <a:pPr>
              <a:lnSpc>
                <a:spcPct val="150000"/>
              </a:lnSpc>
            </a:pPr>
            <a:r>
              <a:rPr lang="en-US" sz="3600" dirty="0"/>
              <a:t>Optional papers: ideas ?</a:t>
            </a:r>
          </a:p>
          <a:p>
            <a:pPr>
              <a:lnSpc>
                <a:spcPct val="150000"/>
              </a:lnSpc>
            </a:pPr>
            <a:r>
              <a:rPr lang="en-US" sz="3600" dirty="0"/>
              <a:t>Assigned projects: home vs given?</a:t>
            </a:r>
          </a:p>
        </p:txBody>
      </p:sp>
    </p:spTree>
    <p:extLst>
      <p:ext uri="{BB962C8B-B14F-4D97-AF65-F5344CB8AC3E}">
        <p14:creationId xmlns:p14="http://schemas.microsoft.com/office/powerpoint/2010/main" val="1258475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3051C1-2C1E-4CE6-B81D-4782B4ABCB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Framing the problem in Data Science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BFE507-6F3C-4795-A11B-2BE256F1E2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No matter what problem you have</a:t>
            </a:r>
          </a:p>
          <a:p>
            <a:r>
              <a:rPr lang="en-US" sz="3600" dirty="0"/>
              <a:t>Ask the right questions!</a:t>
            </a:r>
          </a:p>
          <a:p>
            <a:r>
              <a:rPr lang="en-US" sz="3600" dirty="0"/>
              <a:t>Understand the intuition</a:t>
            </a:r>
          </a:p>
          <a:p>
            <a:r>
              <a:rPr lang="en-US" sz="3600" dirty="0"/>
              <a:t>Can a human with almost infinite time solve it?</a:t>
            </a:r>
          </a:p>
        </p:txBody>
      </p:sp>
    </p:spTree>
    <p:extLst>
      <p:ext uri="{BB962C8B-B14F-4D97-AF65-F5344CB8AC3E}">
        <p14:creationId xmlns:p14="http://schemas.microsoft.com/office/powerpoint/2010/main" val="884343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18968-12C4-4239-8E32-2345B99C4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Framing the problem: Customer Churn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A1C846-E9D4-436E-BCD0-695D0AE4FB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How do you define churn?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lnSpc>
                <a:spcPct val="200000"/>
              </a:lnSpc>
              <a:buNone/>
            </a:pPr>
            <a:r>
              <a:rPr lang="en-US" dirty="0"/>
              <a:t>Examples:</a:t>
            </a:r>
          </a:p>
          <a:p>
            <a:pPr marL="514350" indent="-514350">
              <a:lnSpc>
                <a:spcPct val="200000"/>
              </a:lnSpc>
              <a:buFont typeface="+mj-lt"/>
              <a:buAutoNum type="arabicPeriod"/>
            </a:pPr>
            <a:r>
              <a:rPr lang="en-US" dirty="0"/>
              <a:t>Customers that will discontinue purchasing/services after date</a:t>
            </a:r>
          </a:p>
          <a:p>
            <a:pPr marL="514350" indent="-514350">
              <a:lnSpc>
                <a:spcPct val="200000"/>
              </a:lnSpc>
              <a:buFont typeface="+mj-lt"/>
              <a:buAutoNum type="arabicPeriod"/>
            </a:pPr>
            <a:r>
              <a:rPr lang="en-US" dirty="0"/>
              <a:t>Customers that will decrease their rate of purchase/usage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759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18968-12C4-4239-8E32-2345B99C4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Framing the problem: Customer Churn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A1C846-E9D4-436E-BCD0-695D0AE4FB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Case #1: fixed period Churn definition.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How do we frame it?</a:t>
            </a:r>
          </a:p>
          <a:p>
            <a:pPr marL="0" indent="0">
              <a:buNone/>
            </a:pPr>
            <a:endParaRPr lang="en-US" b="1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Plan to construct features based on previous analysis (RFM, </a:t>
            </a:r>
            <a:r>
              <a:rPr lang="en-US" dirty="0" err="1"/>
              <a:t>etc</a:t>
            </a:r>
            <a:r>
              <a:rPr lang="en-US" dirty="0"/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Extract as much information from data – patterns!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Apply classification model able to understand non-linear patterns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Remember we have structured data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Data is strongly skewed</a:t>
            </a:r>
          </a:p>
          <a:p>
            <a:pPr marL="514350" indent="-514350">
              <a:buFont typeface="+mj-lt"/>
              <a:buAutoNum type="arabicPeriod"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9110414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18968-12C4-4239-8E32-2345B99C4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Framing the problem: Customer Churn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A1C846-E9D4-436E-BCD0-695D0AE4FB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Case #1: fixed period Churn definition.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Multiple solutions:</a:t>
            </a:r>
          </a:p>
          <a:p>
            <a:pPr marL="0" indent="0">
              <a:buNone/>
            </a:pPr>
            <a:endParaRPr lang="en-US" b="1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First try baseline decision trees (?) and logistic regression (?)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Apply Random Forests and better </a:t>
            </a:r>
            <a:r>
              <a:rPr lang="en-US" dirty="0" err="1"/>
              <a:t>SotA</a:t>
            </a:r>
            <a:r>
              <a:rPr lang="en-US" dirty="0"/>
              <a:t> </a:t>
            </a:r>
            <a:r>
              <a:rPr lang="en-US" dirty="0" err="1"/>
              <a:t>XGBoost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4738904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18968-12C4-4239-8E32-2345B99C4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Framing the problem: Customer Churn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A1C846-E9D4-436E-BCD0-695D0AE4FB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7124" y="1253331"/>
            <a:ext cx="11104659" cy="5403770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b="1" dirty="0">
                <a:solidFill>
                  <a:schemeClr val="accent6"/>
                </a:solidFill>
              </a:rPr>
              <a:t>Question: </a:t>
            </a:r>
            <a:r>
              <a:rPr lang="en-US" b="1" i="1" dirty="0">
                <a:solidFill>
                  <a:schemeClr val="accent6"/>
                </a:solidFill>
              </a:rPr>
              <a:t>Mr. Hinton, what is something you wish you knew when you were younger?</a:t>
            </a:r>
            <a:br>
              <a:rPr lang="en-US" b="1" i="1" dirty="0"/>
            </a:br>
            <a:endParaRPr lang="en-US" b="1" i="1" dirty="0"/>
          </a:p>
          <a:p>
            <a:pPr marL="0" indent="0">
              <a:lnSpc>
                <a:spcPct val="150000"/>
              </a:lnSpc>
              <a:buNone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Geoffrey Hinton: </a:t>
            </a:r>
            <a:r>
              <a:rPr lang="en-US" b="1" i="1" dirty="0">
                <a:solidFill>
                  <a:schemeClr val="accent2">
                    <a:lumMod val="75000"/>
                  </a:schemeClr>
                </a:solidFill>
              </a:rPr>
              <a:t>In 1986 I wish I knew this stuff was going to work! There were so many people who said it was nonsense. I wish I could have told them “you wait”, but that would have been a stupid thing to say, because it seemed impossible. What I wish I knew now, is whether the brain uses back propagation!</a:t>
            </a:r>
          </a:p>
        </p:txBody>
      </p:sp>
    </p:spTree>
    <p:extLst>
      <p:ext uri="{BB962C8B-B14F-4D97-AF65-F5344CB8AC3E}">
        <p14:creationId xmlns:p14="http://schemas.microsoft.com/office/powerpoint/2010/main" val="18472948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18968-12C4-4239-8E32-2345B99C4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Framing the problem: Customer Churn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A1C846-E9D4-436E-BCD0-695D0AE4FB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Case #1: “fixed period” Churn definition.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Multiple solutions:</a:t>
            </a:r>
          </a:p>
          <a:p>
            <a:pPr marL="0" indent="0">
              <a:buNone/>
            </a:pPr>
            <a:endParaRPr lang="en-US" b="1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First try baseline decision trees (?) and logistic regression (?)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Apply Random Forests and better </a:t>
            </a:r>
            <a:r>
              <a:rPr lang="en-US" dirty="0" err="1"/>
              <a:t>SotA</a:t>
            </a:r>
            <a:r>
              <a:rPr lang="en-US" dirty="0"/>
              <a:t> </a:t>
            </a:r>
            <a:r>
              <a:rPr lang="en-US" dirty="0" err="1"/>
              <a:t>XGBoost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Finally we can search for a good DAG</a:t>
            </a:r>
          </a:p>
          <a:p>
            <a:pPr marL="514350" indent="-514350">
              <a:buFont typeface="+mj-lt"/>
              <a:buAutoNum type="arabicPeriod"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8683101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18968-12C4-4239-8E32-2345B99C4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Framing the problem: Customer Churn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A1C846-E9D4-436E-BCD0-695D0AE4FB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9568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Case #1: fixe period Churn definition.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Multiple solutions:</a:t>
            </a:r>
          </a:p>
          <a:p>
            <a:pPr marL="0" indent="0">
              <a:buNone/>
            </a:pPr>
            <a:endParaRPr lang="en-US" b="1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First try baseline decision trees (?) and logistic regression (?)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Apply Random Forests and better </a:t>
            </a:r>
            <a:r>
              <a:rPr lang="en-US" dirty="0" err="1"/>
              <a:t>SotA</a:t>
            </a:r>
            <a:r>
              <a:rPr lang="en-US" dirty="0"/>
              <a:t> </a:t>
            </a:r>
            <a:r>
              <a:rPr lang="en-US" dirty="0" err="1"/>
              <a:t>XGBoost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Finally we can search for a good DAG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Last but not least: hyperparameter search – raw or intelligent</a:t>
            </a:r>
          </a:p>
          <a:p>
            <a:pPr marL="514350" indent="-514350">
              <a:buFont typeface="+mj-lt"/>
              <a:buAutoNum type="arabicPeriod"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3462699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18968-12C4-4239-8E32-2345B99C4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Framing the problem: Customer Churn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A1C846-E9D4-436E-BCD0-695D0AE4FB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Case #1: fixe period Churn definition.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Multiple solutions:</a:t>
            </a:r>
          </a:p>
          <a:p>
            <a:pPr marL="0" indent="0">
              <a:buNone/>
            </a:pPr>
            <a:endParaRPr lang="en-US" b="1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First try baseline decision trees (?) and logistic regression (?)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Apply Random Forests and better </a:t>
            </a:r>
            <a:r>
              <a:rPr lang="en-US" dirty="0" err="1"/>
              <a:t>SotA</a:t>
            </a:r>
            <a:r>
              <a:rPr lang="en-US" dirty="0"/>
              <a:t> </a:t>
            </a:r>
            <a:r>
              <a:rPr lang="en-US" dirty="0" err="1"/>
              <a:t>XGBoost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Finally we can search for a good DAG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Last but not least: hyperparameter search – raw or intelligent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Wrap-up: compare, benchmark, choose</a:t>
            </a:r>
          </a:p>
          <a:p>
            <a:pPr marL="514350" indent="-514350">
              <a:buFont typeface="+mj-lt"/>
              <a:buAutoNum type="arabicPeriod"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4123481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24E0F-5CE4-4476-AC75-636F339BB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 a good DAG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2C5E90-8346-48DD-AB30-6A278CDF9B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sz="5400" dirty="0"/>
              <a:t>Grid-search or “smart”-search</a:t>
            </a:r>
          </a:p>
        </p:txBody>
      </p:sp>
    </p:spTree>
    <p:extLst>
      <p:ext uri="{BB962C8B-B14F-4D97-AF65-F5344CB8AC3E}">
        <p14:creationId xmlns:p14="http://schemas.microsoft.com/office/powerpoint/2010/main" val="16686138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4BC24-BE4D-48B8-8F79-692D85A8B5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Hyperparameter 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2A9563-C574-46EA-9A6E-80DE108E62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31476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How many layers?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What size each layer?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How many skip connections and where exactly?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What activation functions?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What output?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Dropout and/or weights penalty (L1?, L2?) ?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BatchNorm</a:t>
            </a:r>
            <a:r>
              <a:rPr lang="en-US" dirty="0"/>
              <a:t>? Where?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Optimization </a:t>
            </a:r>
            <a:r>
              <a:rPr lang="en-US" dirty="0" err="1"/>
              <a:t>algoritm</a:t>
            </a:r>
            <a:r>
              <a:rPr lang="en-US" dirty="0"/>
              <a:t>?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Learning rate?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3688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0D83E-3615-490F-A137-7CE6C635C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Complexity!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8788B-D13F-4553-BF0E-DF5198D8BA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Let’s see…</a:t>
            </a:r>
          </a:p>
          <a:p>
            <a:r>
              <a:rPr lang="en-US" dirty="0"/>
              <a:t>We decided to give a look at 9 hyper-params..</a:t>
            </a:r>
          </a:p>
          <a:p>
            <a:r>
              <a:rPr lang="en-US" dirty="0"/>
              <a:t>How about 5 options (minimal) for each…</a:t>
            </a:r>
          </a:p>
          <a:p>
            <a:r>
              <a:rPr lang="en-US" dirty="0"/>
              <a:t>About 2M possibilities!</a:t>
            </a:r>
          </a:p>
          <a:p>
            <a:r>
              <a:rPr lang="en-US" dirty="0"/>
              <a:t>This each test needs at least 10 epochs </a:t>
            </a:r>
          </a:p>
          <a:p>
            <a:r>
              <a:rPr lang="en-US" dirty="0"/>
              <a:t>So we have about 20M epochs</a:t>
            </a:r>
          </a:p>
          <a:p>
            <a:r>
              <a:rPr lang="en-US" dirty="0"/>
              <a:t>…maybe millions of hours </a:t>
            </a:r>
          </a:p>
        </p:txBody>
      </p:sp>
    </p:spTree>
    <p:extLst>
      <p:ext uri="{BB962C8B-B14F-4D97-AF65-F5344CB8AC3E}">
        <p14:creationId xmlns:p14="http://schemas.microsoft.com/office/powerpoint/2010/main" val="886614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D8E5C30-FC37-4522-ACE5-45EEEB54B7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7219" y="2443053"/>
            <a:ext cx="7596127" cy="391553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BD2DABF-BEB6-48B1-8569-E0F63675E5A2}"/>
              </a:ext>
            </a:extLst>
          </p:cNvPr>
          <p:cNvSpPr txBox="1"/>
          <p:nvPr/>
        </p:nvSpPr>
        <p:spPr>
          <a:xfrm>
            <a:off x="930301" y="0"/>
            <a:ext cx="1012996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/>
              <a:t>202+: A search space odyssey </a:t>
            </a:r>
          </a:p>
        </p:txBody>
      </p:sp>
    </p:spTree>
    <p:extLst>
      <p:ext uri="{BB962C8B-B14F-4D97-AF65-F5344CB8AC3E}">
        <p14:creationId xmlns:p14="http://schemas.microsoft.com/office/powerpoint/2010/main" val="29893932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2BBD7-C57C-42BB-ABC1-ECE6B66DA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Hyperparameter 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6486EA-B1AC-4E9E-BCDE-D930F34050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0736" y="1624726"/>
            <a:ext cx="11353800" cy="503237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600" b="1" dirty="0"/>
              <a:t>Importance</a:t>
            </a:r>
          </a:p>
          <a:p>
            <a:pPr lvl="1">
              <a:lnSpc>
                <a:spcPct val="150000"/>
              </a:lnSpc>
            </a:pPr>
            <a:r>
              <a:rPr lang="en-US" sz="3200" dirty="0"/>
              <a:t>Focus on most relevant hyperparameters</a:t>
            </a:r>
          </a:p>
          <a:p>
            <a:pPr lvl="1">
              <a:lnSpc>
                <a:spcPct val="150000"/>
              </a:lnSpc>
            </a:pPr>
            <a:r>
              <a:rPr lang="en-US" sz="3200" dirty="0"/>
              <a:t>Make mental and written lists</a:t>
            </a:r>
          </a:p>
          <a:p>
            <a:pPr lvl="1">
              <a:lnSpc>
                <a:spcPct val="150000"/>
              </a:lnSpc>
            </a:pPr>
            <a:r>
              <a:rPr lang="en-US" sz="3200" dirty="0"/>
              <a:t>Order them depending of your problem/setting</a:t>
            </a:r>
          </a:p>
        </p:txBody>
      </p:sp>
    </p:spTree>
    <p:extLst>
      <p:ext uri="{BB962C8B-B14F-4D97-AF65-F5344CB8AC3E}">
        <p14:creationId xmlns:p14="http://schemas.microsoft.com/office/powerpoint/2010/main" val="39353805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5350CF-5790-4105-B3D4-51063CE4E9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Hyperparameter 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5F8CAB-EFCA-4ABC-803C-0F25A53141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sz="4000" b="1" dirty="0"/>
          </a:p>
          <a:p>
            <a:r>
              <a:rPr lang="en-US" sz="4000" b="1" dirty="0"/>
              <a:t>Example: Is regularization important? Dropout, weight penalty? </a:t>
            </a:r>
          </a:p>
        </p:txBody>
      </p:sp>
    </p:spTree>
    <p:extLst>
      <p:ext uri="{BB962C8B-B14F-4D97-AF65-F5344CB8AC3E}">
        <p14:creationId xmlns:p14="http://schemas.microsoft.com/office/powerpoint/2010/main" val="25337112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2BBD7-C57C-42BB-ABC1-ECE6B66DA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Hyperparameter 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6486EA-B1AC-4E9E-BCDE-D930F34050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0736" y="1624726"/>
            <a:ext cx="11353800" cy="503237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600" dirty="0"/>
              <a:t>Importance</a:t>
            </a:r>
          </a:p>
          <a:p>
            <a:pPr>
              <a:lnSpc>
                <a:spcPct val="150000"/>
              </a:lnSpc>
            </a:pPr>
            <a:r>
              <a:rPr lang="en-US" sz="3600" b="1" dirty="0"/>
              <a:t>Creativity</a:t>
            </a:r>
          </a:p>
        </p:txBody>
      </p:sp>
    </p:spTree>
    <p:extLst>
      <p:ext uri="{BB962C8B-B14F-4D97-AF65-F5344CB8AC3E}">
        <p14:creationId xmlns:p14="http://schemas.microsoft.com/office/powerpoint/2010/main" val="37077339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909256-6B5F-49BE-B537-2C2B7298C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Neural Network design is a bit of art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2431DB5-2ECA-4E47-B300-02D0403E3C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220" y="1248355"/>
            <a:ext cx="11719560" cy="4540195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B5B9B13-2974-47DC-94BE-17A5A30C0C56}"/>
              </a:ext>
            </a:extLst>
          </p:cNvPr>
          <p:cNvSpPr txBox="1"/>
          <p:nvPr/>
        </p:nvSpPr>
        <p:spPr>
          <a:xfrm>
            <a:off x="445273" y="6170212"/>
            <a:ext cx="84681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/>
              <a:t>…No, this is not NN design, it is just some CNN-based generative stuff (Deep Dream)</a:t>
            </a:r>
          </a:p>
        </p:txBody>
      </p:sp>
    </p:spTree>
    <p:extLst>
      <p:ext uri="{BB962C8B-B14F-4D97-AF65-F5344CB8AC3E}">
        <p14:creationId xmlns:p14="http://schemas.microsoft.com/office/powerpoint/2010/main" val="9270864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2BBD7-C57C-42BB-ABC1-ECE6B66DA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Hyperparameter 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6486EA-B1AC-4E9E-BCDE-D930F34050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0736" y="1624726"/>
            <a:ext cx="11353800" cy="503237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600" dirty="0"/>
              <a:t>Importance</a:t>
            </a:r>
          </a:p>
          <a:p>
            <a:pPr>
              <a:lnSpc>
                <a:spcPct val="150000"/>
              </a:lnSpc>
            </a:pPr>
            <a:r>
              <a:rPr lang="en-US" sz="3600" dirty="0"/>
              <a:t>Creativity</a:t>
            </a:r>
          </a:p>
          <a:p>
            <a:pPr>
              <a:lnSpc>
                <a:spcPct val="150000"/>
              </a:lnSpc>
            </a:pPr>
            <a:r>
              <a:rPr lang="en-US" sz="3600" b="1" dirty="0"/>
              <a:t>Resources:</a:t>
            </a:r>
          </a:p>
          <a:p>
            <a:pPr lvl="1">
              <a:lnSpc>
                <a:spcPct val="150000"/>
              </a:lnSpc>
            </a:pPr>
            <a:r>
              <a:rPr lang="en-US" sz="3200" dirty="0"/>
              <a:t>Is compute time limited -&gt; then run random search</a:t>
            </a:r>
          </a:p>
          <a:p>
            <a:pPr lvl="1">
              <a:lnSpc>
                <a:spcPct val="150000"/>
              </a:lnSpc>
            </a:pPr>
            <a:r>
              <a:rPr lang="en-US" sz="3200" dirty="0"/>
              <a:t>Do we have resource limitation -&gt; choose careful designs</a:t>
            </a:r>
          </a:p>
        </p:txBody>
      </p:sp>
    </p:spTree>
    <p:extLst>
      <p:ext uri="{BB962C8B-B14F-4D97-AF65-F5344CB8AC3E}">
        <p14:creationId xmlns:p14="http://schemas.microsoft.com/office/powerpoint/2010/main" val="14800083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2BBD7-C57C-42BB-ABC1-ECE6B66DA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Hyperparameter 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6486EA-B1AC-4E9E-BCDE-D930F34050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0736" y="1624726"/>
            <a:ext cx="11353800" cy="5233274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sz="3600" dirty="0"/>
              <a:t>Importance</a:t>
            </a:r>
          </a:p>
          <a:p>
            <a:pPr>
              <a:lnSpc>
                <a:spcPct val="150000"/>
              </a:lnSpc>
            </a:pPr>
            <a:r>
              <a:rPr lang="en-US" sz="3600" dirty="0"/>
              <a:t>Creativity</a:t>
            </a:r>
          </a:p>
          <a:p>
            <a:pPr>
              <a:lnSpc>
                <a:spcPct val="150000"/>
              </a:lnSpc>
            </a:pPr>
            <a:r>
              <a:rPr lang="en-US" sz="3600" dirty="0"/>
              <a:t>Resources</a:t>
            </a:r>
          </a:p>
          <a:p>
            <a:pPr>
              <a:lnSpc>
                <a:spcPct val="150000"/>
              </a:lnSpc>
            </a:pPr>
            <a:r>
              <a:rPr lang="en-US" sz="3600" b="1" dirty="0"/>
              <a:t>“Good-enough” point? </a:t>
            </a:r>
            <a:endParaRPr lang="en-US" sz="3200" b="1" dirty="0"/>
          </a:p>
          <a:p>
            <a:pPr lvl="1">
              <a:lnSpc>
                <a:spcPct val="150000"/>
              </a:lnSpc>
            </a:pPr>
            <a:r>
              <a:rPr lang="en-US" sz="3200" dirty="0"/>
              <a:t>Do we need that increase from 95.87% recall to 95.91% ?</a:t>
            </a:r>
          </a:p>
          <a:p>
            <a:pPr lvl="1">
              <a:lnSpc>
                <a:spcPct val="150000"/>
              </a:lnSpc>
            </a:pPr>
            <a:r>
              <a:rPr lang="en-US" sz="3200" dirty="0"/>
              <a:t>What the “customer” needs is what matters!</a:t>
            </a:r>
          </a:p>
        </p:txBody>
      </p:sp>
    </p:spTree>
    <p:extLst>
      <p:ext uri="{BB962C8B-B14F-4D97-AF65-F5344CB8AC3E}">
        <p14:creationId xmlns:p14="http://schemas.microsoft.com/office/powerpoint/2010/main" val="21948276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BDAD7-6D17-4490-8176-93D15E8FF4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</a:t>
            </a:r>
            <a:r>
              <a:rPr lang="en-US" dirty="0" err="1"/>
              <a:t>Hyperparams</a:t>
            </a:r>
            <a:r>
              <a:rPr lang="en-US" dirty="0"/>
              <a:t> 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0FEE4E-8FF5-4A16-97B2-6ABF00EAC6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Start simple with preparing the grid</a:t>
            </a:r>
          </a:p>
          <a:p>
            <a:r>
              <a:rPr lang="en-US" dirty="0"/>
              <a:t>See if the grid is large, if not just run it!</a:t>
            </a:r>
          </a:p>
          <a:p>
            <a:r>
              <a:rPr lang="en-US" dirty="0"/>
              <a:t>If it is large then run “some” random sample of it</a:t>
            </a:r>
          </a:p>
          <a:p>
            <a:r>
              <a:rPr lang="en-US" dirty="0"/>
              <a:t>No matter how full or partial analyze your best results</a:t>
            </a:r>
          </a:p>
          <a:p>
            <a:r>
              <a:rPr lang="en-US" dirty="0"/>
              <a:t>Now you can narrow even more your search</a:t>
            </a:r>
          </a:p>
          <a:p>
            <a:r>
              <a:rPr lang="en-US" b="1" dirty="0"/>
              <a:t>Better yet an example</a:t>
            </a:r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4324010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BDAD7-6D17-4490-8176-93D15E8FF4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</a:t>
            </a:r>
            <a:r>
              <a:rPr lang="en-US" dirty="0" err="1"/>
              <a:t>Hyperparams</a:t>
            </a:r>
            <a:r>
              <a:rPr lang="en-US" dirty="0"/>
              <a:t> 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0FEE4E-8FF5-4A16-97B2-6ABF00EAC6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b="1" dirty="0"/>
              <a:t>Simple (naïve) experiment setup:</a:t>
            </a:r>
          </a:p>
          <a:p>
            <a:pPr marL="457200" lvl="1" indent="0">
              <a:buNone/>
            </a:pPr>
            <a:r>
              <a:rPr lang="en-US" b="1" dirty="0"/>
              <a:t>Param1: Learning Rate from 1e-6 up to 0.5</a:t>
            </a:r>
          </a:p>
          <a:p>
            <a:pPr marL="457200" lvl="1" indent="0">
              <a:buNone/>
            </a:pPr>
            <a:r>
              <a:rPr lang="en-US" b="1" dirty="0"/>
              <a:t>Param2: Number of layers from 2 to 20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We search P1: {1e-6, 1e-5, 1e…} P2: {2, 5, 10, 20}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We find a point of validation optimum say P1: 1e-4, P2: 10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We narrow the search left/right and we repeat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After multiple iterations we have either: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b="1" dirty="0"/>
              <a:t>Optimal point (depending on validation dataset)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b="1" dirty="0"/>
              <a:t>Bounce-back areas (more likely)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b="1" dirty="0"/>
              <a:t>We can settle for good-enough</a:t>
            </a:r>
          </a:p>
          <a:p>
            <a:pPr marL="0" indent="0">
              <a:buNone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159777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2438</TotalTime>
  <Words>868</Words>
  <Application>Microsoft Office PowerPoint</Application>
  <PresentationFormat>Widescreen</PresentationFormat>
  <Paragraphs>135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Arial Black</vt:lpstr>
      <vt:lpstr>Calibri</vt:lpstr>
      <vt:lpstr>Calibri Light</vt:lpstr>
      <vt:lpstr>Office Theme</vt:lpstr>
      <vt:lpstr>Data Science  with  Deep Learning</vt:lpstr>
      <vt:lpstr>Operational stuff</vt:lpstr>
      <vt:lpstr>Framing the problem in Data Science</vt:lpstr>
      <vt:lpstr>Framing the problem: Customer Churn</vt:lpstr>
      <vt:lpstr>Framing the problem: Customer Churn</vt:lpstr>
      <vt:lpstr>Framing the problem: Customer Churn</vt:lpstr>
      <vt:lpstr>Framing the problem: Customer Churn</vt:lpstr>
      <vt:lpstr>Framing the problem: Customer Churn</vt:lpstr>
      <vt:lpstr>Framing the problem: Customer Churn</vt:lpstr>
      <vt:lpstr>Framing the problem: Customer Churn</vt:lpstr>
      <vt:lpstr>Finding a good DAG</vt:lpstr>
      <vt:lpstr>Hyperparameter search</vt:lpstr>
      <vt:lpstr>Complexity!</vt:lpstr>
      <vt:lpstr>PowerPoint Presentation</vt:lpstr>
      <vt:lpstr>Hyperparameter search</vt:lpstr>
      <vt:lpstr>Hyperparameter search</vt:lpstr>
      <vt:lpstr>Hyperparameter search</vt:lpstr>
      <vt:lpstr>Neural Network design is a bit of art </vt:lpstr>
      <vt:lpstr>Hyperparameter search</vt:lpstr>
      <vt:lpstr>Hyperparameter search</vt:lpstr>
      <vt:lpstr>Simple Hyperparams search</vt:lpstr>
      <vt:lpstr>Simple Hyperparams search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Science with Deep Learning</dc:title>
  <dc:creator>Andrei Damian</dc:creator>
  <cp:lastModifiedBy> </cp:lastModifiedBy>
  <cp:revision>92</cp:revision>
  <dcterms:created xsi:type="dcterms:W3CDTF">2018-10-02T06:38:21Z</dcterms:created>
  <dcterms:modified xsi:type="dcterms:W3CDTF">2025-11-17T13:54:11Z</dcterms:modified>
</cp:coreProperties>
</file>