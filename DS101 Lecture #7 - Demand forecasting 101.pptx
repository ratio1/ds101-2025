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29"/>
  </p:notesMasterIdLst>
  <p:sldIdLst>
    <p:sldId id="282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30"/>
    </p:embeddedFont>
    <p:embeddedFont>
      <p:font typeface="Cascadia Code" panose="020B0604020202020204" charset="0"/>
      <p:regular r:id="rId31"/>
      <p:bold r:id="rId32"/>
      <p:italic r:id="rId33"/>
      <p:boldItalic r:id="rId34"/>
    </p:embeddedFont>
    <p:embeddedFont>
      <p:font typeface="Comfortaa" panose="020B0604020202020204" charset="0"/>
      <p:regular r:id="rId35"/>
      <p:bold r:id="rId36"/>
    </p:embeddedFont>
    <p:embeddedFont>
      <p:font typeface="Comfortaa Light" panose="020B0604020202020204" charset="0"/>
      <p:regular r:id="rId37"/>
      <p:bold r:id="rId38"/>
    </p:embeddedFont>
    <p:embeddedFont>
      <p:font typeface="Comfortaa Medium" panose="020B0604020202020204" charset="0"/>
      <p:regular r:id="rId39"/>
      <p:bold r:id="rId40"/>
    </p:embeddedFont>
    <p:embeddedFont>
      <p:font typeface="Roboto" panose="02000000000000000000" pitchFamily="2" charset="0"/>
      <p:regular r:id="rId41"/>
      <p:bold r:id="rId42"/>
      <p:italic r:id="rId43"/>
      <p:boldItalic r:id="rId44"/>
    </p:embeddedFont>
    <p:embeddedFont>
      <p:font typeface="Roboto Light" panose="02000000000000000000" pitchFamily="2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jYrN1TLYwBGqBhTGvCcq318yAk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7" d="100"/>
          <a:sy n="157" d="100"/>
        </p:scale>
        <p:origin x="610" y="1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7.fntdata"/><Relationship Id="rId49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font" Target="fonts/font19.fntdata"/><Relationship Id="rId8" Type="http://schemas.openxmlformats.org/officeDocument/2006/relationships/slide" Target="slides/slide6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a8ba5fa58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1a8ba5fa58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a8ba5fa58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a8ba5fa58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a8ba5fa58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1a8ba5fa58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a8ba5fa58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g1a8ba5fa58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a8ba5fa587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1a8ba5fa587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a8ba5fa587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1a8ba5fa587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a8ba5fa587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a8ba5fa587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a8ba5fa587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1a8ba5fa587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a8ba5fa587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1a8ba5fa587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a8ba5fa587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1a8ba5fa587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a8ba5fa587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1a8ba5fa587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a8ba5fa587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1a8ba5fa587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a8ba5fa587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1a8ba5fa587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a8ba5fa587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1a8ba5fa587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a8ba5fa587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1a8ba5fa587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a8ba5fa587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1a8ba5fa587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a8ba5fa587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a8ba5fa587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a8ba5fa587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1a8ba5fa587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a8ba5fa587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1a8ba5fa587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a8ba5fa587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1a8ba5fa587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a8ba5fa587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g1a8ba5fa587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a8ba5fa587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g1a8ba5fa587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a8ba5fa587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1a8ba5fa587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a8ba5fa587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1a8ba5fa587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8"/>
          <p:cNvSpPr txBox="1">
            <a:spLocks noGrp="1"/>
          </p:cNvSpPr>
          <p:nvPr>
            <p:ph type="title"/>
          </p:nvPr>
        </p:nvSpPr>
        <p:spPr>
          <a:xfrm>
            <a:off x="311700" y="1222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800"/>
              <a:buNone/>
              <a:defRPr b="1">
                <a:solidFill>
                  <a:srgbClr val="07376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800"/>
              <a:buNone/>
              <a:defRPr>
                <a:solidFill>
                  <a:srgbClr val="07376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800"/>
              <a:buNone/>
              <a:defRPr>
                <a:solidFill>
                  <a:srgbClr val="07376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800"/>
              <a:buNone/>
              <a:defRPr>
                <a:solidFill>
                  <a:srgbClr val="07376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800"/>
              <a:buNone/>
              <a:defRPr>
                <a:solidFill>
                  <a:srgbClr val="07376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800"/>
              <a:buNone/>
              <a:defRPr>
                <a:solidFill>
                  <a:srgbClr val="07376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800"/>
              <a:buNone/>
              <a:defRPr>
                <a:solidFill>
                  <a:srgbClr val="07376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800"/>
              <a:buNone/>
              <a:defRPr>
                <a:solidFill>
                  <a:srgbClr val="07376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800"/>
              <a:buNone/>
              <a:defRPr>
                <a:solidFill>
                  <a:srgbClr val="073763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7764-CFF0-4137-88A3-796C2412C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C83369-CEB4-4D79-8016-7181760020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C6735-83CD-4E8B-A947-A6EE1B7C9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20F28-4F98-4C50-A895-BC6E2D4EA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71595-424B-4F2D-9966-1D3FFDFC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1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376D7-A30E-4E3F-A036-39899B199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85" y="150675"/>
            <a:ext cx="8743950" cy="5216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F24D8-2B01-431F-B507-4B40D51B8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0CB36-3D63-4CED-9869-A87AA91A0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BA888-C8D7-4B04-A1C1-86AF08B1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8E90E-AC3F-4CA9-BA81-F115C54F4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DE7180-2E6F-4E9A-A488-B752BCD1B03F}"/>
              </a:ext>
            </a:extLst>
          </p:cNvPr>
          <p:cNvCxnSpPr>
            <a:cxnSpLocks/>
          </p:cNvCxnSpPr>
          <p:nvPr userDrawn="1"/>
        </p:nvCxnSpPr>
        <p:spPr>
          <a:xfrm>
            <a:off x="222885" y="673835"/>
            <a:ext cx="8743950" cy="0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479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5F922-93E1-4CC3-9F39-02A751BC1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7D2EC-3D86-4EE0-A43D-2FF83B332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B7C93-9018-4BC3-8A17-A9B56A6FD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63B4A-1ACB-40FF-8BCE-D08DF7C2A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0C05E-BFFA-4219-ADA1-F751624E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345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26460-A6E6-4E89-9BC1-949D9FCCB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F0F3B-A6A5-4696-9F7F-DBDC93E8A6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2DB95-D18F-41AA-B2D9-E1DE12944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C2693-399E-4C76-BEFC-4DF0F3FD3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00030-6F0F-4EE8-8C5E-1F6120FD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359D3-363D-4084-86D3-CD41380B8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077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09D16-7081-4D47-881C-D4E3DA573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A32A7-0AA8-4410-8CB3-D9CDA3E59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232322-BA83-4E1B-881E-62B0353E3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0C40A6-59C4-4745-9ABB-469BDF0CED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FE9302-8AC5-4767-873C-E14E91D96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8DC61B-BA3B-4800-98B7-46084A2E8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915EB-6A6F-4A25-AE61-DA335AFBA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E3E0E-DE42-4FD0-A4FE-C5CE9F9AA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22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F037-4D84-44D7-ADB3-63B3738EF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3DA5E9-37B2-464D-A9C2-9E009B099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BF40-CDB7-4E16-973A-6A8EE7F8F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B95D3-325B-4C81-A3A0-CEEE298DE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9542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36732C-DD5F-45DF-9B52-6790E257E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E0BEB8-40A5-4A44-97D9-ADB843734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0CE3B-5BC1-47D8-B914-2554D1A4E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0922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9CE72-831A-4476-B890-6A3054E41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51762-24EC-4823-A3DB-DB1D747C2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B0AF-2C40-4659-A5E7-177B6795F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F0696-7864-48FB-B517-676A479A0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1579A-7E8C-4F93-96EE-7B00889A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B11B8-7009-4B58-94B8-ED7198DEA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915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F2CD9-6646-4067-8158-1D0DF41E4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3567E3-3FDD-47C0-81F3-97D66224F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DB52F-266A-4105-92DF-F7C4C9B7E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DC5B1-6145-45E0-9C47-D32BF5F7A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03484-8B3B-4DED-8600-1CD0E5A86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FD03D-45D5-4634-AB62-F0C43B914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3338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19EA5-1F88-4979-8101-C8CF8ED14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3C6765-5427-4720-8927-FB5D49DCA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7A9C9-A1E9-4532-A3CF-BD1EBA82B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AEF39-0A88-4E53-A3FE-D6CBC7074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A4DBA-CE95-4F9D-BA6D-50190DF43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210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8CEBA4-BDB4-4FE7-A23A-7796A75E3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95FC6E-3E6F-49CB-9DC6-7F3C9A7D8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5A6B6-3164-4BB9-82D5-2809B1C99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41173-75E1-4B83-9628-5B9BECB13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8045E-0952-45E4-BC69-F62C0D734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53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895B76-BFE6-47F0-8B81-653E4C75B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85" y="195382"/>
            <a:ext cx="8743950" cy="737711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0B86C-4FF2-4534-A816-2E075E130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F02CE-3EA0-4DE8-9666-907C26447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27168-93E5-4C47-869C-987DB890A3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D2934-E0ED-4C3E-8BE9-59CAC9984E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0FDB5-68BC-4598-83DC-09B41977C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697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icsellia.com/post/what-is-data-drift-and-how-to-detect-it-with-mlops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eliiza-ai/why-your-models-might-not-work-after-covid-19-a00509e4920b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9838F-25CA-4100-B559-8E8F7DCD8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456" y="351846"/>
            <a:ext cx="8313089" cy="2951921"/>
          </a:xfrm>
        </p:spPr>
        <p:txBody>
          <a:bodyPr anchor="ctr" anchorCtr="1">
            <a:norm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Data Science </a:t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>
                <a:latin typeface="Arial Black" panose="020B0A04020102020204" pitchFamily="34" charset="0"/>
              </a:rPr>
              <a:t>with </a:t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>
                <a:latin typeface="Arial Black" panose="020B0A04020102020204" pitchFamily="34" charset="0"/>
              </a:rPr>
              <a:t>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285B46-8132-4E5F-ACE7-11FF1EEC9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0342" y="3232205"/>
            <a:ext cx="6858000" cy="1139024"/>
          </a:xfrm>
        </p:spPr>
        <p:txBody>
          <a:bodyPr>
            <a:normAutofit/>
          </a:bodyPr>
          <a:lstStyle/>
          <a:p>
            <a:r>
              <a:rPr lang="en-US" sz="2400" b="1" dirty="0"/>
              <a:t>From dataset understanding to result presentation and how to employ deep acyclic graph models in Predictive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D0C8E-DD29-4753-A269-63E83576B176}"/>
              </a:ext>
            </a:extLst>
          </p:cNvPr>
          <p:cNvSpPr txBox="1"/>
          <p:nvPr/>
        </p:nvSpPr>
        <p:spPr>
          <a:xfrm>
            <a:off x="2470280" y="-8408"/>
            <a:ext cx="431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buClrTx/>
            </a:pPr>
            <a:r>
              <a:rPr lang="en-US" sz="2400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DS101 </a:t>
            </a:r>
            <a:r>
              <a:rPr lang="en-US" sz="2400" b="1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Lecture 7</a:t>
            </a:r>
            <a:endParaRPr lang="en-US" sz="2400" b="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A2071C-300F-4785-90F7-15BFE228FD08}"/>
              </a:ext>
            </a:extLst>
          </p:cNvPr>
          <p:cNvSpPr txBox="1"/>
          <p:nvPr/>
        </p:nvSpPr>
        <p:spPr>
          <a:xfrm>
            <a:off x="2219117" y="4702142"/>
            <a:ext cx="235288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1500" b="1" kern="1200" dirty="0" err="1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Lec</a:t>
            </a:r>
            <a:r>
              <a:rPr lang="en-US" sz="1500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. Andrei </a:t>
            </a:r>
            <a:r>
              <a:rPr lang="en-US" sz="1500" b="1" kern="1200" dirty="0" err="1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Ionut</a:t>
            </a:r>
            <a:r>
              <a:rPr lang="en-US" sz="1500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 DAMIAN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AF9934-B1D2-4952-A72E-2253E0067455}"/>
              </a:ext>
            </a:extLst>
          </p:cNvPr>
          <p:cNvSpPr txBox="1"/>
          <p:nvPr/>
        </p:nvSpPr>
        <p:spPr>
          <a:xfrm>
            <a:off x="5463291" y="4710687"/>
            <a:ext cx="235288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1500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As. Vitalii TODERIAN</a:t>
            </a:r>
          </a:p>
        </p:txBody>
      </p:sp>
    </p:spTree>
    <p:extLst>
      <p:ext uri="{BB962C8B-B14F-4D97-AF65-F5344CB8AC3E}">
        <p14:creationId xmlns:p14="http://schemas.microsoft.com/office/powerpoint/2010/main" val="3420012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>
            <a:spLocks noGrp="1"/>
          </p:cNvSpPr>
          <p:nvPr>
            <p:ph type="ctrTitle"/>
          </p:nvPr>
        </p:nvSpPr>
        <p:spPr>
          <a:xfrm>
            <a:off x="612994" y="1330087"/>
            <a:ext cx="73608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80"/>
              <a:buNone/>
            </a:pPr>
            <a:r>
              <a:rPr lang="en" sz="4650" b="1" dirty="0">
                <a:latin typeface="Cascadia Code" panose="020B0609020000020004" pitchFamily="49" charset="0"/>
                <a:ea typeface="Comfortaa"/>
                <a:cs typeface="Cascadia Code" panose="020B0609020000020004" pitchFamily="49" charset="0"/>
                <a:sym typeface="Comfortaa"/>
              </a:rPr>
              <a:t>Demand forecasting </a:t>
            </a:r>
            <a:endParaRPr sz="4650" b="1" dirty="0">
              <a:latin typeface="Cascadia Code" panose="020B0609020000020004" pitchFamily="49" charset="0"/>
              <a:ea typeface="Comfortaa"/>
              <a:cs typeface="Cascadia Code" panose="020B0609020000020004" pitchFamily="49" charset="0"/>
              <a:sym typeface="Comfortaa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80"/>
              <a:buNone/>
            </a:pPr>
            <a:r>
              <a:rPr lang="en" sz="2400" b="1" dirty="0">
                <a:latin typeface="Cascadia Code" panose="020B0609020000020004" pitchFamily="49" charset="0"/>
                <a:ea typeface="Comfortaa"/>
                <a:cs typeface="Cascadia Code" panose="020B0609020000020004" pitchFamily="49" charset="0"/>
                <a:sym typeface="Comfortaa"/>
              </a:rPr>
              <a:t>DS 101 2025-2026 Lecture 7</a:t>
            </a:r>
            <a:endParaRPr sz="2400" b="1" dirty="0">
              <a:latin typeface="Cascadia Code" panose="020B0609020000020004" pitchFamily="49" charset="0"/>
              <a:ea typeface="Comfortaa"/>
              <a:cs typeface="Cascadia Code" panose="020B0609020000020004" pitchFamily="49" charset="0"/>
              <a:sym typeface="Comforta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a8ba5fa587_0_0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Demand forecasting?</a:t>
            </a:r>
            <a:endParaRPr sz="272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1" name="Google Shape;61;g1a8ba5fa587_0_0"/>
          <p:cNvSpPr txBox="1">
            <a:spLocks noGrp="1"/>
          </p:cNvSpPr>
          <p:nvPr>
            <p:ph type="body" idx="1"/>
          </p:nvPr>
        </p:nvSpPr>
        <p:spPr>
          <a:xfrm>
            <a:off x="3060375" y="2534100"/>
            <a:ext cx="5925000" cy="24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Estimates include:</a:t>
            </a:r>
            <a:endParaRPr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fortaa"/>
              <a:buChar char="●"/>
            </a:pPr>
            <a:r>
              <a:rPr lang="en" sz="120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Production Estimates</a:t>
            </a:r>
            <a:endParaRPr sz="1200" dirty="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fortaa"/>
              <a:buChar char="●"/>
            </a:pPr>
            <a:r>
              <a:rPr lang="en" sz="120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Inventory Level Estimates</a:t>
            </a:r>
            <a:endParaRPr sz="1200" dirty="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fortaa"/>
              <a:buChar char="●"/>
            </a:pPr>
            <a:r>
              <a:rPr lang="en" sz="120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Staffing and Labor Estimates</a:t>
            </a:r>
            <a:endParaRPr sz="1200" dirty="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fortaa"/>
              <a:buChar char="●"/>
            </a:pPr>
            <a:r>
              <a:rPr lang="en" sz="120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Raw Material Procurement Estimates</a:t>
            </a:r>
            <a:endParaRPr sz="1200" dirty="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fortaa"/>
              <a:buChar char="●"/>
            </a:pPr>
            <a:r>
              <a:rPr lang="en" sz="120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Advertising and Promotion Budget Estimates</a:t>
            </a:r>
            <a:endParaRPr sz="1200" dirty="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fortaa"/>
              <a:buChar char="●"/>
            </a:pPr>
            <a:r>
              <a:rPr lang="en" sz="120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Warehouse Space and Logistics Estimates</a:t>
            </a:r>
            <a:endParaRPr sz="1200" dirty="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fortaa"/>
              <a:buChar char="●"/>
            </a:pPr>
            <a:r>
              <a:rPr lang="en" sz="120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..</a:t>
            </a:r>
            <a:endParaRPr sz="1200" dirty="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6" name="Google Shape;66;g1a8ba5fa587_0_0"/>
          <p:cNvSpPr txBox="1"/>
          <p:nvPr/>
        </p:nvSpPr>
        <p:spPr>
          <a:xfrm>
            <a:off x="3060375" y="1123000"/>
            <a:ext cx="4646400" cy="12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Future estimates</a:t>
            </a:r>
            <a:r>
              <a:rPr lang="en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to inform decisions on </a:t>
            </a:r>
            <a:r>
              <a:rPr lang="en" sz="18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production</a:t>
            </a:r>
            <a:r>
              <a:rPr lang="en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, </a:t>
            </a:r>
            <a:r>
              <a:rPr lang="en" sz="18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inventory</a:t>
            </a:r>
            <a:r>
              <a:rPr lang="en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, and </a:t>
            </a:r>
            <a:r>
              <a:rPr lang="en" sz="18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resource allocation</a:t>
            </a:r>
            <a:r>
              <a:rPr lang="en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based on anticipated </a:t>
            </a:r>
            <a:r>
              <a:rPr lang="en" sz="18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customer demand</a:t>
            </a:r>
            <a:r>
              <a:rPr lang="en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.</a:t>
            </a:r>
            <a:endParaRPr sz="2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a8ba5fa587_0_21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Techniques</a:t>
            </a:r>
            <a:endParaRPr sz="272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72" name="Google Shape;72;g1a8ba5fa587_0_21"/>
          <p:cNvCxnSpPr/>
          <p:nvPr/>
        </p:nvCxnSpPr>
        <p:spPr>
          <a:xfrm>
            <a:off x="4572000" y="1221500"/>
            <a:ext cx="0" cy="3141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" name="Google Shape;73;g1a8ba5fa587_0_21"/>
          <p:cNvSpPr txBox="1"/>
          <p:nvPr/>
        </p:nvSpPr>
        <p:spPr>
          <a:xfrm>
            <a:off x="1038675" y="1221500"/>
            <a:ext cx="314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i="0" u="none" strike="noStrike" cap="none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Qualitative</a:t>
            </a:r>
            <a:endParaRPr sz="1800" i="0" u="none" strike="noStrike" cap="none"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74" name="Google Shape;74;g1a8ba5fa587_0_21"/>
          <p:cNvSpPr txBox="1"/>
          <p:nvPr/>
        </p:nvSpPr>
        <p:spPr>
          <a:xfrm>
            <a:off x="5046625" y="1221500"/>
            <a:ext cx="314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i="0" u="none" strike="noStrike" cap="none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Quantitative</a:t>
            </a:r>
            <a:endParaRPr sz="1800" i="0" u="none" strike="noStrike" cap="none"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pic>
        <p:nvPicPr>
          <p:cNvPr id="75" name="Google Shape;75;g1a8ba5fa587_0_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2375" y="2879025"/>
            <a:ext cx="2373576" cy="148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1a8ba5fa587_0_21"/>
          <p:cNvSpPr txBox="1"/>
          <p:nvPr/>
        </p:nvSpPr>
        <p:spPr>
          <a:xfrm>
            <a:off x="1366875" y="2004675"/>
            <a:ext cx="2484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Human-focused research </a:t>
            </a:r>
            <a:endParaRPr sz="140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7" name="Google Shape;77;g1a8ba5fa587_0_21"/>
          <p:cNvSpPr txBox="1"/>
          <p:nvPr/>
        </p:nvSpPr>
        <p:spPr>
          <a:xfrm>
            <a:off x="5374813" y="1789125"/>
            <a:ext cx="24846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Statistical and generally automated (computer-aided) research </a:t>
            </a:r>
            <a:endParaRPr sz="140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78" name="Google Shape;78;g1a8ba5fa587_0_21"/>
          <p:cNvPicPr preferRelativeResize="0"/>
          <p:nvPr/>
        </p:nvPicPr>
        <p:blipFill rotWithShape="1">
          <a:blip r:embed="rId4">
            <a:alphaModFix/>
          </a:blip>
          <a:srcRect l="23300" t="10819" r="21010" b="9390"/>
          <a:stretch/>
        </p:blipFill>
        <p:spPr>
          <a:xfrm>
            <a:off x="5661525" y="2912262"/>
            <a:ext cx="1911201" cy="143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a8ba5fa587_0_11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Business value</a:t>
            </a:r>
            <a:endParaRPr sz="272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5" name="Google Shape;85;g1a8ba5fa587_0_11"/>
          <p:cNvSpPr txBox="1">
            <a:spLocks noGrp="1"/>
          </p:cNvSpPr>
          <p:nvPr>
            <p:ph type="body" idx="1"/>
          </p:nvPr>
        </p:nvSpPr>
        <p:spPr>
          <a:xfrm>
            <a:off x="830600" y="1185275"/>
            <a:ext cx="7752900" cy="3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Short- 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(1 to 6 months) as well as </a:t>
            </a: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mid-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,and </a:t>
            </a: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long-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term (6+ months) estimates are used for:</a:t>
            </a:r>
            <a:b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</a:b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Medium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Pre-building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Medium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Make-to-stock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Medium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Make-to-order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Medium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Contract manufacturing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Medium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Supply planning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Medium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Network balancing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Light"/>
              <a:buChar char="●"/>
            </a:pP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… </a:t>
            </a: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a8ba5fa587_0_34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The qualitative approach</a:t>
            </a:r>
            <a:endParaRPr sz="272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2" name="Google Shape;92;g1a8ba5fa587_0_34"/>
          <p:cNvSpPr txBox="1">
            <a:spLocks noGrp="1"/>
          </p:cNvSpPr>
          <p:nvPr>
            <p:ph type="body" idx="1"/>
          </p:nvPr>
        </p:nvSpPr>
        <p:spPr>
          <a:xfrm>
            <a:off x="830600" y="1185275"/>
            <a:ext cx="7939200" cy="1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Uses the </a:t>
            </a: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expertise of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 </a:t>
            </a: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market research experts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, </a:t>
            </a: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sales / purchase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/operations teams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.</a:t>
            </a: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b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3" name="Google Shape;93;g1a8ba5fa587_0_34"/>
          <p:cNvSpPr/>
          <p:nvPr/>
        </p:nvSpPr>
        <p:spPr>
          <a:xfrm>
            <a:off x="3645450" y="2622875"/>
            <a:ext cx="1853100" cy="1263000"/>
          </a:xfrm>
          <a:prstGeom prst="roundRect">
            <a:avLst>
              <a:gd name="adj" fmla="val 16667"/>
            </a:avLst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351C75"/>
                </a:solidFill>
                <a:latin typeface="Comfortaa"/>
                <a:ea typeface="Comfortaa"/>
                <a:cs typeface="Comfortaa"/>
                <a:sym typeface="Comfortaa"/>
              </a:rPr>
              <a:t>Qualitative </a:t>
            </a:r>
            <a:endParaRPr sz="1400" b="1" i="0" u="none" strike="noStrike" cap="none">
              <a:solidFill>
                <a:srgbClr val="351C75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351C75"/>
                </a:solidFill>
                <a:latin typeface="Comfortaa"/>
                <a:ea typeface="Comfortaa"/>
                <a:cs typeface="Comfortaa"/>
                <a:sym typeface="Comfortaa"/>
              </a:rPr>
              <a:t>demand forecasting</a:t>
            </a:r>
            <a:endParaRPr sz="1400" b="1" i="0" u="none" strike="noStrike" cap="none">
              <a:solidFill>
                <a:srgbClr val="351C7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4" name="Google Shape;94;g1a8ba5fa587_0_34"/>
          <p:cNvSpPr/>
          <p:nvPr/>
        </p:nvSpPr>
        <p:spPr>
          <a:xfrm>
            <a:off x="3645450" y="4317325"/>
            <a:ext cx="1853100" cy="450000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Highly granular</a:t>
            </a:r>
            <a:endParaRPr sz="12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5" name="Google Shape;95;g1a8ba5fa587_0_34"/>
          <p:cNvSpPr/>
          <p:nvPr/>
        </p:nvSpPr>
        <p:spPr>
          <a:xfrm>
            <a:off x="3645450" y="1741425"/>
            <a:ext cx="1853100" cy="450000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Long term</a:t>
            </a:r>
            <a:endParaRPr sz="12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6" name="Google Shape;96;g1a8ba5fa587_0_34"/>
          <p:cNvSpPr/>
          <p:nvPr/>
        </p:nvSpPr>
        <p:spPr>
          <a:xfrm>
            <a:off x="947725" y="2862125"/>
            <a:ext cx="1853100" cy="784500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Biased towards specific products/services</a:t>
            </a:r>
            <a:endParaRPr sz="12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7" name="Google Shape;97;g1a8ba5fa587_0_34"/>
          <p:cNvSpPr/>
          <p:nvPr/>
        </p:nvSpPr>
        <p:spPr>
          <a:xfrm>
            <a:off x="6316831" y="2862125"/>
            <a:ext cx="1853100" cy="784500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Based on the expert’s area of expertise </a:t>
            </a:r>
            <a:endParaRPr sz="12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98" name="Google Shape;98;g1a8ba5fa587_0_34"/>
          <p:cNvCxnSpPr>
            <a:stCxn id="93" idx="0"/>
            <a:endCxn id="95" idx="2"/>
          </p:cNvCxnSpPr>
          <p:nvPr/>
        </p:nvCxnSpPr>
        <p:spPr>
          <a:xfrm rot="10800000">
            <a:off x="4572000" y="2191475"/>
            <a:ext cx="0" cy="431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99" name="Google Shape;99;g1a8ba5fa587_0_34"/>
          <p:cNvCxnSpPr/>
          <p:nvPr/>
        </p:nvCxnSpPr>
        <p:spPr>
          <a:xfrm rot="10800000">
            <a:off x="4572000" y="3885875"/>
            <a:ext cx="0" cy="431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100" name="Google Shape;100;g1a8ba5fa587_0_34"/>
          <p:cNvCxnSpPr>
            <a:stCxn id="93" idx="1"/>
            <a:endCxn id="96" idx="3"/>
          </p:cNvCxnSpPr>
          <p:nvPr/>
        </p:nvCxnSpPr>
        <p:spPr>
          <a:xfrm rot="10800000">
            <a:off x="2800950" y="3254375"/>
            <a:ext cx="844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1" name="Google Shape;101;g1a8ba5fa587_0_34"/>
          <p:cNvCxnSpPr/>
          <p:nvPr/>
        </p:nvCxnSpPr>
        <p:spPr>
          <a:xfrm rot="10800000">
            <a:off x="5488975" y="3254375"/>
            <a:ext cx="844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stealth" w="med" len="med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a8ba5fa587_0_59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The quantitative approach</a:t>
            </a:r>
            <a:endParaRPr sz="272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8" name="Google Shape;108;g1a8ba5fa587_0_59"/>
          <p:cNvSpPr txBox="1">
            <a:spLocks noGrp="1"/>
          </p:cNvSpPr>
          <p:nvPr>
            <p:ph type="body" idx="1"/>
          </p:nvPr>
        </p:nvSpPr>
        <p:spPr>
          <a:xfrm>
            <a:off x="830600" y="1185275"/>
            <a:ext cx="8093700" cy="3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Quantitative techniques that </a:t>
            </a: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use and apply statistical methods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:</a:t>
            </a: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Static forecasting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: average of historical data based on relevant business historical data</a:t>
            </a:r>
            <a:b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</a:b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Trend projection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: uses advanced statistical methods to project trends: moving averages and least-square methods</a:t>
            </a:r>
            <a:b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</a:b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Barometric (econometric) forecasting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: uses macro-economic models to project high-granularity and potential long-term forecasts (similar and closely related to qualitative analysis but based on macroeconomic data)</a:t>
            </a: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</a:b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a8ba5fa587_0_74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Commonly used methods for quantitative analysis</a:t>
            </a:r>
            <a:endParaRPr sz="272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5" name="Google Shape;115;g1a8ba5fa587_0_74"/>
          <p:cNvSpPr txBox="1">
            <a:spLocks noGrp="1"/>
          </p:cNvSpPr>
          <p:nvPr>
            <p:ph type="body" idx="1"/>
          </p:nvPr>
        </p:nvSpPr>
        <p:spPr>
          <a:xfrm>
            <a:off x="830600" y="1185275"/>
            <a:ext cx="8093700" cy="3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Simple static forecasting by averaging historical data</a:t>
            </a:r>
            <a:b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</a:b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Advanced static forecasting with weighted averages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 (i.e., combining average weekly sales over the last month with average weekly sales in the last year)</a:t>
            </a:r>
            <a:b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</a:b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Advanced static forecasting with weighted averages and re-adjusted based on experts’ opinion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 (after computing the static forecast, a purchase/sales expert adjusts it based on their personal opinion (or bias))</a:t>
            </a: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</a:b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a8ba5fa587_0_80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Trend projection</a:t>
            </a:r>
            <a:endParaRPr sz="272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22" name="Google Shape;122;g1a8ba5fa587_0_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7800" y="1674325"/>
            <a:ext cx="4867550" cy="289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1a8ba5fa587_0_80"/>
          <p:cNvSpPr txBox="1"/>
          <p:nvPr/>
        </p:nvSpPr>
        <p:spPr>
          <a:xfrm>
            <a:off x="3004813" y="4440300"/>
            <a:ext cx="3134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i="1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Picture courtesy of fcgu.edu</a:t>
            </a:r>
            <a:endParaRPr sz="1100" i="1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4" name="Google Shape;124;g1a8ba5fa587_0_80"/>
          <p:cNvSpPr txBox="1"/>
          <p:nvPr/>
        </p:nvSpPr>
        <p:spPr>
          <a:xfrm>
            <a:off x="1247875" y="1113450"/>
            <a:ext cx="66474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i="0" u="none" strike="noStrike" cap="none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Trend projection based on moving averages</a:t>
            </a:r>
            <a:endParaRPr sz="1900" i="0" u="none" strike="noStrike" cap="none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a8ba5fa587_0_90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Trend projection</a:t>
            </a:r>
            <a:endParaRPr sz="272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1" name="Google Shape;131;g1a8ba5fa587_0_90"/>
          <p:cNvSpPr txBox="1"/>
          <p:nvPr/>
        </p:nvSpPr>
        <p:spPr>
          <a:xfrm>
            <a:off x="1247875" y="1113450"/>
            <a:ext cx="66474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i="0" u="none" strike="noStrike" cap="none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Trend projection based on least squares (basic ML)</a:t>
            </a:r>
            <a:endParaRPr sz="1900" i="0" u="none" strike="noStrike" cap="none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pic>
        <p:nvPicPr>
          <p:cNvPr id="132" name="Google Shape;132;g1a8ba5fa587_0_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8322" y="1590450"/>
            <a:ext cx="5026503" cy="288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1a8ba5fa587_0_90"/>
          <p:cNvSpPr txBox="1"/>
          <p:nvPr/>
        </p:nvSpPr>
        <p:spPr>
          <a:xfrm>
            <a:off x="2996638" y="4419425"/>
            <a:ext cx="3134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i="1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Picture courtesy of fcgu.edu</a:t>
            </a:r>
            <a:endParaRPr sz="1100" i="1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a8ba5fa587_0_100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Classic demand forecasting: pros &amp; cons</a:t>
            </a:r>
            <a:endParaRPr sz="272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40" name="Google Shape;140;g1a8ba5fa587_0_100"/>
          <p:cNvCxnSpPr/>
          <p:nvPr/>
        </p:nvCxnSpPr>
        <p:spPr>
          <a:xfrm>
            <a:off x="4572000" y="1221500"/>
            <a:ext cx="0" cy="3141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1" name="Google Shape;141;g1a8ba5fa587_0_100"/>
          <p:cNvSpPr txBox="1"/>
          <p:nvPr/>
        </p:nvSpPr>
        <p:spPr>
          <a:xfrm>
            <a:off x="1422388" y="2695550"/>
            <a:ext cx="24846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i="0" u="none" strike="noStrike" cap="none">
                <a:solidFill>
                  <a:srgbClr val="38761D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The logic is simple so the business user can relate to the logic of the predictions</a:t>
            </a:r>
            <a:endParaRPr sz="1800" i="0" u="none" strike="noStrike" cap="none">
              <a:solidFill>
                <a:srgbClr val="000000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sp>
        <p:nvSpPr>
          <p:cNvPr id="142" name="Google Shape;142;g1a8ba5fa587_0_100"/>
          <p:cNvSpPr txBox="1"/>
          <p:nvPr/>
        </p:nvSpPr>
        <p:spPr>
          <a:xfrm>
            <a:off x="4903800" y="2695550"/>
            <a:ext cx="33252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i="0" u="none" strike="noStrike" cap="none">
                <a:solidFill>
                  <a:srgbClr val="990000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Almost impossible to generate patterns unless the trend is extremely predictable (such as a weekend-only sold item)</a:t>
            </a:r>
            <a:endParaRPr sz="1800" i="0" u="none" strike="noStrike" cap="none">
              <a:solidFill>
                <a:srgbClr val="000000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pic>
        <p:nvPicPr>
          <p:cNvPr id="143" name="Google Shape;143;g1a8ba5fa587_0_100"/>
          <p:cNvPicPr preferRelativeResize="0"/>
          <p:nvPr/>
        </p:nvPicPr>
        <p:blipFill rotWithShape="1">
          <a:blip r:embed="rId3">
            <a:alphaModFix/>
          </a:blip>
          <a:srcRect l="1236" t="16746" r="54907" b="18394"/>
          <a:stretch/>
        </p:blipFill>
        <p:spPr>
          <a:xfrm>
            <a:off x="2081438" y="1137725"/>
            <a:ext cx="1166477" cy="115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1a8ba5fa587_0_100"/>
          <p:cNvPicPr preferRelativeResize="0"/>
          <p:nvPr/>
        </p:nvPicPr>
        <p:blipFill rotWithShape="1">
          <a:blip r:embed="rId3">
            <a:alphaModFix/>
          </a:blip>
          <a:srcRect l="54260" t="17317" b="18898"/>
          <a:stretch/>
        </p:blipFill>
        <p:spPr>
          <a:xfrm>
            <a:off x="5923175" y="1149403"/>
            <a:ext cx="1286451" cy="119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a8ba5fa587_0_117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Advanced demand forecasting: pros &amp; cons</a:t>
            </a:r>
            <a:endParaRPr sz="272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51" name="Google Shape;151;g1a8ba5fa587_0_117"/>
          <p:cNvCxnSpPr/>
          <p:nvPr/>
        </p:nvCxnSpPr>
        <p:spPr>
          <a:xfrm>
            <a:off x="4572000" y="1221500"/>
            <a:ext cx="0" cy="3141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2" name="Google Shape;152;g1a8ba5fa587_0_117"/>
          <p:cNvSpPr txBox="1"/>
          <p:nvPr/>
        </p:nvSpPr>
        <p:spPr>
          <a:xfrm>
            <a:off x="1202190" y="2288400"/>
            <a:ext cx="29250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400"/>
              <a:buFont typeface="Comfortaa Light"/>
              <a:buChar char="●"/>
            </a:pPr>
            <a:r>
              <a:rPr lang="en" sz="1400" i="0" u="none" strike="noStrike" cap="none">
                <a:solidFill>
                  <a:srgbClr val="38761D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Use advanced models to ingest exogenous data (such as promotions or weather) that can be used for A/B testing</a:t>
            </a:r>
            <a:endParaRPr sz="1400" i="0" u="none" strike="noStrike" cap="none">
              <a:solidFill>
                <a:srgbClr val="38761D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400"/>
              <a:buFont typeface="Comfortaa Light"/>
              <a:buChar char="●"/>
            </a:pPr>
            <a:r>
              <a:rPr lang="en" sz="1400" i="0" u="none" strike="noStrike" cap="none">
                <a:solidFill>
                  <a:srgbClr val="38761D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Almost invariably outperform classic approaches for any kind of use-case</a:t>
            </a:r>
            <a:endParaRPr sz="1400" i="0" u="none" strike="noStrike" cap="none">
              <a:solidFill>
                <a:srgbClr val="38761D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pic>
        <p:nvPicPr>
          <p:cNvPr id="153" name="Google Shape;153;g1a8ba5fa587_0_117"/>
          <p:cNvPicPr preferRelativeResize="0"/>
          <p:nvPr/>
        </p:nvPicPr>
        <p:blipFill rotWithShape="1">
          <a:blip r:embed="rId3">
            <a:alphaModFix/>
          </a:blip>
          <a:srcRect l="1236" t="16746" r="54907" b="18394"/>
          <a:stretch/>
        </p:blipFill>
        <p:spPr>
          <a:xfrm>
            <a:off x="2081438" y="1137725"/>
            <a:ext cx="1166477" cy="115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1a8ba5fa587_0_117"/>
          <p:cNvPicPr preferRelativeResize="0"/>
          <p:nvPr/>
        </p:nvPicPr>
        <p:blipFill rotWithShape="1">
          <a:blip r:embed="rId3">
            <a:alphaModFix/>
          </a:blip>
          <a:srcRect l="54260" t="17317" b="18898"/>
          <a:stretch/>
        </p:blipFill>
        <p:spPr>
          <a:xfrm>
            <a:off x="5923175" y="1149403"/>
            <a:ext cx="1286451" cy="119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1a8ba5fa587_0_117"/>
          <p:cNvSpPr txBox="1"/>
          <p:nvPr/>
        </p:nvSpPr>
        <p:spPr>
          <a:xfrm>
            <a:off x="5103890" y="2661775"/>
            <a:ext cx="2925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Comfortaa Light"/>
              <a:buChar char="●"/>
            </a:pPr>
            <a:r>
              <a:rPr lang="en" sz="1400" i="0" u="none" strike="noStrike" cap="none">
                <a:solidFill>
                  <a:srgbClr val="990000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Expensive to build and maintain</a:t>
            </a:r>
            <a:endParaRPr sz="1400" i="0" u="none" strike="noStrike" cap="none">
              <a:solidFill>
                <a:srgbClr val="38761D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Comfortaa Light"/>
              <a:buChar char="●"/>
            </a:pPr>
            <a:r>
              <a:rPr lang="en" sz="1400" i="0" u="none" strike="noStrike" cap="none">
                <a:solidFill>
                  <a:srgbClr val="990000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Explainability is (almost) zero - generally seen as “black-boxes”</a:t>
            </a:r>
            <a:endParaRPr sz="1400" i="0" u="none" strike="noStrike" cap="none">
              <a:solidFill>
                <a:srgbClr val="38761D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a8ba5fa587_0_128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How to choose what’s best?</a:t>
            </a:r>
            <a:endParaRPr sz="272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2" name="Google Shape;162;g1a8ba5fa587_0_128"/>
          <p:cNvSpPr txBox="1">
            <a:spLocks noGrp="1"/>
          </p:cNvSpPr>
          <p:nvPr>
            <p:ph type="body" idx="1"/>
          </p:nvPr>
        </p:nvSpPr>
        <p:spPr>
          <a:xfrm>
            <a:off x="830600" y="1185275"/>
            <a:ext cx="7752900" cy="3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1 - Start from your data - manual or automatic analysis</a:t>
            </a:r>
            <a:br>
              <a:rPr lang="en" sz="20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</a:br>
            <a:endParaRPr sz="20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Understand your business process objectives and requirements including but not limited to:</a:t>
            </a: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Final objective</a:t>
            </a:r>
            <a:r>
              <a:rPr lang="en" sz="18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 (e.g., replenishment, marketing sensitivity simulation)</a:t>
            </a:r>
            <a:endParaRPr sz="18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Aggregation levels</a:t>
            </a:r>
            <a:r>
              <a:rPr lang="en" sz="18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 (e.g., day, week)</a:t>
            </a:r>
            <a:endParaRPr sz="18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Endogenous </a:t>
            </a:r>
            <a:r>
              <a:rPr lang="en" sz="18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(e.g., date, time, quantity sold yesterday) and </a:t>
            </a:r>
            <a:r>
              <a:rPr lang="en" sz="18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exogenous variables</a:t>
            </a:r>
            <a:r>
              <a:rPr lang="en" sz="18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 (e.g. weather, promotion)</a:t>
            </a:r>
            <a:endParaRPr sz="18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Light"/>
              <a:buChar char="●"/>
            </a:pPr>
            <a:r>
              <a:rPr lang="en" sz="18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…</a:t>
            </a:r>
            <a:endParaRPr sz="18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a8ba5fa587_0_139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How to choose what’s best?</a:t>
            </a:r>
            <a:endParaRPr sz="272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9" name="Google Shape;169;g1a8ba5fa587_0_139"/>
          <p:cNvSpPr txBox="1">
            <a:spLocks noGrp="1"/>
          </p:cNvSpPr>
          <p:nvPr>
            <p:ph type="body" idx="1"/>
          </p:nvPr>
        </p:nvSpPr>
        <p:spPr>
          <a:xfrm>
            <a:off x="830600" y="1185275"/>
            <a:ext cx="7752900" cy="3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2 - If you already have predictions then you could skip to the next step...</a:t>
            </a:r>
            <a:endParaRPr sz="20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18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.. however if you don’t have predictions or an existing forecasting model you have to analyze what fits you best:</a:t>
            </a: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Multi-level averages 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(most likely already implemented… if so, skip to the next step)</a:t>
            </a: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Linear models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 (most likely the best candidate)</a:t>
            </a: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Moving averages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 </a:t>
            </a: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Light"/>
              <a:buChar char="●"/>
            </a:pP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…</a:t>
            </a: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a8ba5fa587_0_145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How to choose what’s best?</a:t>
            </a:r>
            <a:endParaRPr sz="272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6" name="Google Shape;176;g1a8ba5fa587_0_145"/>
          <p:cNvSpPr txBox="1">
            <a:spLocks noGrp="1"/>
          </p:cNvSpPr>
          <p:nvPr>
            <p:ph type="body" idx="1"/>
          </p:nvPr>
        </p:nvSpPr>
        <p:spPr>
          <a:xfrm>
            <a:off x="830600" y="1185275"/>
            <a:ext cx="7752900" cy="3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3 - Adopt the explainable approaches that you already have at hand?</a:t>
            </a:r>
            <a:endParaRPr sz="20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Usually medium and large business are using </a:t>
            </a: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statistical based heuristics that they already employed in previous years/periods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a8ba5fa587_0_151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How to choose what’s best?</a:t>
            </a:r>
            <a:endParaRPr sz="272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3" name="Google Shape;183;g1a8ba5fa587_0_151"/>
          <p:cNvSpPr txBox="1">
            <a:spLocks noGrp="1"/>
          </p:cNvSpPr>
          <p:nvPr>
            <p:ph type="body" idx="1"/>
          </p:nvPr>
        </p:nvSpPr>
        <p:spPr>
          <a:xfrm>
            <a:off x="830600" y="1185275"/>
            <a:ext cx="7952400" cy="3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4 - Establish a test base - what to consider history and what is (known) future?</a:t>
            </a:r>
            <a:endParaRPr sz="20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If the backlog data (history) is too long it might not be relevant to current trends 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(see pre and post COVID-19)</a:t>
            </a:r>
            <a:b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</a:b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If the backlog data is too short then some methods are inapplicable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 (e.g., you can’t predict yearly seasonality with 6 months of data)</a:t>
            </a:r>
            <a:b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</a:b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Select what “past” means 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(real data that is available to all methods) and </a:t>
            </a: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what is designated as “future”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 (real historical data that is kept private)</a:t>
            </a: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a8ba5fa587_0_157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How to choose what’s best?</a:t>
            </a:r>
            <a:endParaRPr sz="272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0" name="Google Shape;190;g1a8ba5fa587_0_157"/>
          <p:cNvSpPr txBox="1">
            <a:spLocks noGrp="1"/>
          </p:cNvSpPr>
          <p:nvPr>
            <p:ph type="body" idx="1"/>
          </p:nvPr>
        </p:nvSpPr>
        <p:spPr>
          <a:xfrm>
            <a:off x="830600" y="1185275"/>
            <a:ext cx="7952400" cy="3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5 - Apply your adopted explainable approach and generate forecasts</a:t>
            </a:r>
            <a:endParaRPr sz="20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At this stage, you have a couple of options:</a:t>
            </a: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Get data from ERP systems if it already exists for “future” historical data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 (not the real backlog but rather the forecasts generated at that time such as order quantities)</a:t>
            </a:r>
            <a:b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</a:b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Medium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Re-run your heuristics/models using “past” data and generate “future” values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a8ba5fa587_0_163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Classic or advanced: how to choose what’s best?</a:t>
            </a:r>
            <a:endParaRPr sz="272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7" name="Google Shape;197;g1a8ba5fa587_0_163"/>
          <p:cNvSpPr txBox="1">
            <a:spLocks noGrp="1"/>
          </p:cNvSpPr>
          <p:nvPr>
            <p:ph type="body" idx="1"/>
          </p:nvPr>
        </p:nvSpPr>
        <p:spPr>
          <a:xfrm>
            <a:off x="830600" y="1185275"/>
            <a:ext cx="7952400" cy="3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6 - Use the advanced techniques to generate </a:t>
            </a:r>
            <a:r>
              <a:rPr lang="en" sz="2000" i="1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advanced </a:t>
            </a:r>
            <a:r>
              <a:rPr lang="en" sz="20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forecasts</a:t>
            </a:r>
            <a:endParaRPr sz="22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Feed the “past” in the advanced models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 (such as Deep Learning models) </a:t>
            </a: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and obtain the predicted “future”</a:t>
            </a:r>
            <a:b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</a:b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Get several “opinions”</a:t>
            </a: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 (multiple models) each with its pros and cons such as speed vs accuracy</a:t>
            </a: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a8ba5fa587_0_169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Classic or advanced: how to choose what’s best?</a:t>
            </a:r>
            <a:endParaRPr sz="272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04" name="Google Shape;204;g1a8ba5fa587_0_169"/>
          <p:cNvSpPr txBox="1">
            <a:spLocks noGrp="1"/>
          </p:cNvSpPr>
          <p:nvPr>
            <p:ph type="body" idx="1"/>
          </p:nvPr>
        </p:nvSpPr>
        <p:spPr>
          <a:xfrm>
            <a:off x="830600" y="1185275"/>
            <a:ext cx="7952400" cy="3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7 - Compare both classic and advanced results vs reality and judge</a:t>
            </a:r>
            <a:br>
              <a:rPr lang="en" sz="20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</a:br>
            <a:endParaRPr sz="16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Medium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Step by step including average error and visual comparison</a:t>
            </a:r>
            <a:b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</a:b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Light"/>
              <a:buChar char="○"/>
            </a:pPr>
            <a:r>
              <a:rPr lang="en" sz="18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Step by step can mean hour by hour, day by day, week by week etc.</a:t>
            </a:r>
            <a:endParaRPr sz="18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Light"/>
              <a:buChar char="○"/>
            </a:pPr>
            <a:r>
              <a:rPr lang="en" sz="18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Analyze each autoregressive step and compare with baseline as well as reality</a:t>
            </a:r>
            <a:endParaRPr sz="18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Light"/>
              <a:buChar char="○"/>
            </a:pPr>
            <a:r>
              <a:rPr lang="en" sz="18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Visually compare by overlapping predictive steps of both models with reality</a:t>
            </a:r>
            <a:endParaRPr sz="18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Light"/>
              <a:buChar char="○"/>
            </a:pPr>
            <a:r>
              <a:rPr lang="en" sz="18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Almost impossible to “guess” the right answer</a:t>
            </a:r>
            <a:endParaRPr sz="18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a8ba5fa587_0_175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Classic or advanced: how to choose what’s best?</a:t>
            </a:r>
            <a:endParaRPr sz="272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1" name="Google Shape;211;g1a8ba5fa587_0_175"/>
          <p:cNvSpPr txBox="1">
            <a:spLocks noGrp="1"/>
          </p:cNvSpPr>
          <p:nvPr>
            <p:ph type="body" idx="1"/>
          </p:nvPr>
        </p:nvSpPr>
        <p:spPr>
          <a:xfrm>
            <a:off x="830600" y="1185275"/>
            <a:ext cx="7952400" cy="3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7 - Compare both classic and advanced results vs reality and judge</a:t>
            </a:r>
            <a:br>
              <a:rPr lang="en" sz="20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</a:br>
            <a:endParaRPr sz="16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Medium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Period-based amount comparison and error measurement</a:t>
            </a:r>
            <a:b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</a:b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Light"/>
              <a:buChar char="○"/>
            </a:pPr>
            <a:r>
              <a:rPr lang="en" sz="18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Useful when </a:t>
            </a:r>
            <a:r>
              <a:rPr lang="en" sz="1800" i="1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step</a:t>
            </a:r>
            <a:r>
              <a:rPr lang="en" sz="18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 prediction is not that important but the aggregated one is vital for the business</a:t>
            </a:r>
            <a:endParaRPr sz="18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Light"/>
              <a:buChar char="○"/>
            </a:pPr>
            <a:r>
              <a:rPr lang="en" sz="18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Aggregate all predicted steps and analyze the result vs baseline vs reality</a:t>
            </a:r>
            <a:endParaRPr sz="18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Light"/>
              <a:buChar char="○"/>
            </a:pPr>
            <a:r>
              <a:rPr lang="en" sz="18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More prone to miss-judgments than step-by-step and requires multiple tests</a:t>
            </a:r>
            <a:endParaRPr sz="18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a8ba5fa587_0_181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Setting the right expectations</a:t>
            </a:r>
            <a:endParaRPr sz="272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8" name="Google Shape;218;g1a8ba5fa587_0_181"/>
          <p:cNvSpPr txBox="1"/>
          <p:nvPr/>
        </p:nvSpPr>
        <p:spPr>
          <a:xfrm>
            <a:off x="1366875" y="2004675"/>
            <a:ext cx="2484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i="0" u="none" strike="noStrike" cap="none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Glorified random number generators  </a:t>
            </a:r>
            <a:endParaRPr sz="1800" i="0" u="none" strike="noStrike" cap="none"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219" name="Google Shape;219;g1a8ba5fa587_0_181"/>
          <p:cNvSpPr txBox="1"/>
          <p:nvPr/>
        </p:nvSpPr>
        <p:spPr>
          <a:xfrm>
            <a:off x="5615775" y="2004675"/>
            <a:ext cx="2484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i="0" u="none" strike="noStrike" cap="none" dirty="0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Truly intelligent models </a:t>
            </a:r>
            <a:endParaRPr sz="1800" i="0" u="none" strike="noStrike" cap="none" dirty="0"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pic>
        <p:nvPicPr>
          <p:cNvPr id="221" name="Google Shape;221;g1a8ba5fa587_0_1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1688" y="3224923"/>
            <a:ext cx="2702824" cy="152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AFB3AD-724A-D600-694A-C81269163AA7}"/>
              </a:ext>
            </a:extLst>
          </p:cNvPr>
          <p:cNvSpPr txBox="1"/>
          <p:nvPr/>
        </p:nvSpPr>
        <p:spPr>
          <a:xfrm>
            <a:off x="4357688" y="2004675"/>
            <a:ext cx="5357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VS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a8ba5fa587_0_191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Critical failures of AI in 2025</a:t>
            </a:r>
            <a:endParaRPr sz="2720" dirty="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28" name="Google Shape;228;g1a8ba5fa587_0_191"/>
          <p:cNvSpPr txBox="1">
            <a:spLocks noGrp="1"/>
          </p:cNvSpPr>
          <p:nvPr>
            <p:ph type="body" idx="1"/>
          </p:nvPr>
        </p:nvSpPr>
        <p:spPr>
          <a:xfrm>
            <a:off x="830600" y="1185275"/>
            <a:ext cx="7752900" cy="3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Light"/>
              <a:buChar char="●"/>
            </a:pPr>
            <a:r>
              <a:rPr lang="en" dirty="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Data drift</a:t>
            </a:r>
            <a:br>
              <a:rPr lang="en" dirty="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</a:br>
            <a:endParaRPr dirty="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Medium"/>
              <a:buChar char="●"/>
            </a:pPr>
            <a:r>
              <a:rPr lang="en" dirty="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Concept drift</a:t>
            </a:r>
            <a:br>
              <a:rPr lang="en" dirty="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</a:br>
            <a:endParaRPr dirty="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Medium"/>
              <a:buChar char="●"/>
            </a:pPr>
            <a:r>
              <a:rPr lang="en" dirty="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Changing requirements</a:t>
            </a:r>
            <a:br>
              <a:rPr lang="en" dirty="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</a:br>
            <a:endParaRPr dirty="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Medium"/>
              <a:buChar char="●"/>
            </a:pPr>
            <a:r>
              <a:rPr lang="en" dirty="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Refusal to ask chatGPT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Medium"/>
              <a:buChar char="●"/>
            </a:pPr>
            <a:endParaRPr lang="en" dirty="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Medium"/>
              <a:buChar char="●"/>
            </a:pPr>
            <a:r>
              <a:rPr lang="en" dirty="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Asking ChatGPT questions and using the answer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Medium"/>
              <a:buChar char="●"/>
            </a:pPr>
            <a:endParaRPr dirty="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a8ba5fa587_0_201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Critical failures of AI in 2025: data drift</a:t>
            </a:r>
            <a:endParaRPr sz="2720" dirty="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5" name="Google Shape;235;g1a8ba5fa587_0_201"/>
          <p:cNvSpPr txBox="1">
            <a:spLocks noGrp="1"/>
          </p:cNvSpPr>
          <p:nvPr>
            <p:ph type="body" idx="1"/>
          </p:nvPr>
        </p:nvSpPr>
        <p:spPr>
          <a:xfrm>
            <a:off x="830600" y="1185275"/>
            <a:ext cx="7752900" cy="3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The model was trained on a certain distribution of inputs, but this distribution changes over time. For example, let’s imagine we trained a model to estimate demand for electricity from historical data, but climate change is causing unprecedented changes to weather, so the model’s accuracy degrades. </a:t>
            </a:r>
            <a:endParaRPr sz="14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pic>
        <p:nvPicPr>
          <p:cNvPr id="236" name="Google Shape;236;g1a8ba5fa587_0_2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1064" y="2571750"/>
            <a:ext cx="3371130" cy="2114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1a8ba5fa587_0_201"/>
          <p:cNvSpPr txBox="1"/>
          <p:nvPr/>
        </p:nvSpPr>
        <p:spPr>
          <a:xfrm>
            <a:off x="3320075" y="4546256"/>
            <a:ext cx="2925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Figure source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a8ba5fa587_0_208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Critical failures of AI in 2025: concept drift</a:t>
            </a:r>
            <a:endParaRPr sz="2720" dirty="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4" name="Google Shape;244;g1a8ba5fa587_0_208"/>
          <p:cNvSpPr txBox="1">
            <a:spLocks noGrp="1"/>
          </p:cNvSpPr>
          <p:nvPr>
            <p:ph type="body" idx="1"/>
          </p:nvPr>
        </p:nvSpPr>
        <p:spPr>
          <a:xfrm>
            <a:off x="830600" y="1185275"/>
            <a:ext cx="7752900" cy="3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 dirty="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The patterns, trends, and relationships in the data that were initially observed and used to build a forecasting model may evolve or shift, leading to a decrease in the model's predictive accuracy. This can happen due to various factors, such as changes in consumer behavior, market conditions, economic trends, or external events.</a:t>
            </a:r>
            <a:endParaRPr sz="1400"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pic>
        <p:nvPicPr>
          <p:cNvPr id="245" name="Google Shape;245;g1a8ba5fa587_0_2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59290" y="2571750"/>
            <a:ext cx="4348679" cy="201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1a8ba5fa587_0_208"/>
          <p:cNvSpPr txBox="1"/>
          <p:nvPr/>
        </p:nvSpPr>
        <p:spPr>
          <a:xfrm>
            <a:off x="3109500" y="4525944"/>
            <a:ext cx="2925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Figure source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a8ba5fa587_0_216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Critical failures of AI in 2025: changing reqs</a:t>
            </a:r>
            <a:endParaRPr sz="2720" dirty="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53" name="Google Shape;253;g1a8ba5fa587_0_216"/>
          <p:cNvSpPr txBox="1">
            <a:spLocks noGrp="1"/>
          </p:cNvSpPr>
          <p:nvPr>
            <p:ph type="body" idx="1"/>
          </p:nvPr>
        </p:nvSpPr>
        <p:spPr>
          <a:xfrm>
            <a:off x="830600" y="1185275"/>
            <a:ext cx="7752900" cy="3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The model was built to perform a particular task, but the product team decides to modify its capabilities. For instance, a model detects construction workers who wander into a dangerous area without a hard hat for more than 5 seconds. But safety requirements change, and now it must flag hatless workers who enter the area for more than 3 seconds. This issue sometimes manifests as concept drift, but we put it in a different category because it’s often driven by changes in product specifications rather than changes in the real world.</a:t>
            </a:r>
            <a:endParaRPr sz="14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a8ba5fa587_0_223"/>
          <p:cNvSpPr txBox="1">
            <a:spLocks noGrp="1"/>
          </p:cNvSpPr>
          <p:nvPr>
            <p:ph type="title"/>
          </p:nvPr>
        </p:nvSpPr>
        <p:spPr>
          <a:xfrm>
            <a:off x="698175" y="296725"/>
            <a:ext cx="8520600" cy="572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Measuring the impact</a:t>
            </a:r>
            <a:endParaRPr sz="272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0" name="Google Shape;260;g1a8ba5fa587_0_223"/>
          <p:cNvSpPr txBox="1">
            <a:spLocks noGrp="1"/>
          </p:cNvSpPr>
          <p:nvPr>
            <p:ph type="body" idx="1"/>
          </p:nvPr>
        </p:nvSpPr>
        <p:spPr>
          <a:xfrm>
            <a:off x="830600" y="1185275"/>
            <a:ext cx="7752900" cy="3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Last but not least - measuring the impact with actual business perspective</a:t>
            </a:r>
            <a:endParaRPr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Light"/>
              <a:buChar char="●"/>
            </a:pPr>
            <a:r>
              <a:rPr lang="en" dirty="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More qualitative and less quantitative</a:t>
            </a:r>
            <a:endParaRPr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Light"/>
              <a:buChar char="●"/>
            </a:pPr>
            <a:r>
              <a:rPr lang="en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Different from use-case to use-case for the same class of models</a:t>
            </a:r>
            <a:endParaRPr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Light"/>
              <a:buChar char="●"/>
            </a:pPr>
            <a:r>
              <a:rPr lang="en" dirty="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Simple questions might not always be enough:</a:t>
            </a:r>
            <a:endParaRPr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Light"/>
              <a:buChar char="○"/>
            </a:pPr>
            <a:r>
              <a:rPr lang="en" sz="1800" dirty="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How much did I save on locked-up funds due to less over-stocks?</a:t>
            </a:r>
            <a:endParaRPr sz="1800"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Light"/>
              <a:buChar char="○"/>
            </a:pPr>
            <a:r>
              <a:rPr lang="en" sz="1800" dirty="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How much did I gain by stocking-up and selling more?</a:t>
            </a:r>
            <a:endParaRPr sz="1800"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1409</Words>
  <Application>Microsoft Office PowerPoint</Application>
  <PresentationFormat>On-screen Show (16:9)</PresentationFormat>
  <Paragraphs>139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Cascadia Code</vt:lpstr>
      <vt:lpstr>Comfortaa Light</vt:lpstr>
      <vt:lpstr>Comfortaa Medium</vt:lpstr>
      <vt:lpstr>Calibri</vt:lpstr>
      <vt:lpstr>Comfortaa</vt:lpstr>
      <vt:lpstr>Calibri Light</vt:lpstr>
      <vt:lpstr>Arial</vt:lpstr>
      <vt:lpstr>Roboto Light</vt:lpstr>
      <vt:lpstr>Arial Black</vt:lpstr>
      <vt:lpstr>Roboto</vt:lpstr>
      <vt:lpstr>Simple Light</vt:lpstr>
      <vt:lpstr>Office Theme</vt:lpstr>
      <vt:lpstr>Data Science  with  Deep Learning</vt:lpstr>
      <vt:lpstr>Demand forecasting  DS 101 2025-2026 Lecture 7</vt:lpstr>
      <vt:lpstr>Demand forecasting?</vt:lpstr>
      <vt:lpstr>Techniques</vt:lpstr>
      <vt:lpstr>Business value</vt:lpstr>
      <vt:lpstr>The qualitative approach</vt:lpstr>
      <vt:lpstr>The quantitative approach</vt:lpstr>
      <vt:lpstr>Commonly used methods for quantitative analysis</vt:lpstr>
      <vt:lpstr>Trend projection</vt:lpstr>
      <vt:lpstr>Trend projection</vt:lpstr>
      <vt:lpstr>Classic demand forecasting: pros &amp; cons</vt:lpstr>
      <vt:lpstr>Advanced demand forecasting: pros &amp; cons</vt:lpstr>
      <vt:lpstr>How to choose what’s best?</vt:lpstr>
      <vt:lpstr>How to choose what’s best?</vt:lpstr>
      <vt:lpstr>How to choose what’s best?</vt:lpstr>
      <vt:lpstr>How to choose what’s best?</vt:lpstr>
      <vt:lpstr>How to choose what’s best?</vt:lpstr>
      <vt:lpstr>Classic or advanced: how to choose what’s best?</vt:lpstr>
      <vt:lpstr>Classic or advanced: how to choose what’s best?</vt:lpstr>
      <vt:lpstr>Classic or advanced: how to choose what’s best?</vt:lpstr>
      <vt:lpstr>Setting the right expectations</vt:lpstr>
      <vt:lpstr>Critical failures of AI in 2025</vt:lpstr>
      <vt:lpstr>Critical failures of AI in 2025: data drift</vt:lpstr>
      <vt:lpstr>Critical failures of AI in 2025: concept drift</vt:lpstr>
      <vt:lpstr>Critical failures of AI in 2025: changing reqs</vt:lpstr>
      <vt:lpstr>Measuring the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 </cp:lastModifiedBy>
  <cp:revision>6</cp:revision>
  <dcterms:modified xsi:type="dcterms:W3CDTF">2026-01-12T09:47:36Z</dcterms:modified>
</cp:coreProperties>
</file>